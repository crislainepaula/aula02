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F1E2D"/>
          </a:solidFill>
          <a:ln w="12700">
            <a:solidFill>
              <a:srgbClr val="EF1E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4F9AC1"/>
          </a:solidFill>
          <a:ln w="12700">
            <a:solidFill>
              <a:srgbClr val="4F9A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868680"/>
            <a:ext cx="4572000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F1E2D"/>
                </a:solidFill>
              </a:rPr>
              <a:t>Atividade prática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640080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11111"/>
                </a:solidFill>
              </a:rPr>
              <a:t>Acessibilidade e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111111"/>
                </a:solidFill>
              </a:rPr>
              <a:t>Testes de Usabilidade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49808" y="2907792"/>
            <a:ext cx="80467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777777"/>
                </a:solidFill>
              </a:rPr>
              <a:t>Interfaces com o usuário • Técnico em Desenvolvimento de Sistemas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9808" y="4005072"/>
            <a:ext cx="3749040" cy="1417320"/>
          </a:xfrm>
          <a:prstGeom prst="rect">
            <a:avLst/>
          </a:prstGeom>
          <a:solidFill>
            <a:srgbClr val="F7F7F7"/>
          </a:solidFill>
          <a:ln w="12700">
            <a:solidFill>
              <a:srgbClr val="D9D9D9"/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Aluno(a):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Grupo: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892040" y="4005072"/>
            <a:ext cx="5897880" cy="1417320"/>
          </a:xfrm>
          <a:prstGeom prst="rect">
            <a:avLst/>
          </a:prstGeom>
          <a:solidFill>
            <a:srgbClr val="EAF5FA"/>
          </a:solidFill>
          <a:ln w="12700">
            <a:solidFill>
              <a:srgbClr val="4F9AC1"/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Produto final: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Mini-relatório + apresentação de 3 minutos sobre o app testado.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98080" y="1353312"/>
            <a:ext cx="33832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4F9AC1"/>
                </a:solidFill>
              </a:rPr>
              <a:t>♿  👁  🧭  📱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7607808" y="2048256"/>
            <a:ext cx="31546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F1E2D"/>
                </a:solidFill>
              </a:rPr>
              <a:t>preencher nos slides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201400" y="6446520"/>
            <a:ext cx="438912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F1E2D"/>
          </a:solidFill>
          <a:ln w="12700">
            <a:solidFill>
              <a:srgbClr val="EF1E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4F9AC1"/>
          </a:solidFill>
          <a:ln w="12700">
            <a:solidFill>
              <a:srgbClr val="4F9A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02336"/>
            <a:ext cx="896112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F1E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Organização da atividade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832104"/>
            <a:ext cx="104241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777777"/>
                </a:solidFill>
              </a:rPr>
              <a:t>Trabalho em grupo: observar, testar, registrar problemas e propor melhorias.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9829800" y="438912"/>
            <a:ext cx="18288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11111"/>
                </a:solidFill>
              </a:rPr>
              <a:t>Acessibilidade e usabilidade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828800" cy="347472"/>
          </a:xfrm>
          <a:prstGeom prst="rect">
            <a:avLst/>
          </a:prstGeom>
          <a:solidFill>
            <a:srgbClr val="EF1E2D"/>
          </a:solidFill>
          <a:ln>
            <a:solidFill>
              <a:srgbClr val="EF1E2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Tempo sugerido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828800" cy="1325880"/>
          </a:xfrm>
          <a:prstGeom prst="rect">
            <a:avLst/>
          </a:prstGeom>
          <a:solidFill>
            <a:srgbClr val="F7F7F7"/>
          </a:solidFill>
          <a:ln w="12700">
            <a:solidFill>
              <a:srgbClr val="D9D9D9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24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1: explicar os critérios e iniciar os testes.</a:t>
            </a:r>
            <a:endParaRPr lang="en-US" sz="1240" dirty="0"/>
          </a:p>
          <a:p>
            <a:pPr algn="l" indent="0" marL="0">
              <a:buNone/>
            </a:pPr>
            <a:r>
              <a:rPr lang="en-US" sz="124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2: finalizar análise, relatório e apresentação.</a:t>
            </a:r>
            <a:endParaRPr lang="en-US" sz="1240" dirty="0"/>
          </a:p>
        </p:txBody>
      </p:sp>
      <p:sp>
        <p:nvSpPr>
          <p:cNvPr id="9" name="Text 7"/>
          <p:cNvSpPr/>
          <p:nvPr/>
        </p:nvSpPr>
        <p:spPr>
          <a:xfrm>
            <a:off x="2788920" y="1417320"/>
            <a:ext cx="2103120" cy="347472"/>
          </a:xfrm>
          <a:prstGeom prst="rect">
            <a:avLst/>
          </a:prstGeom>
          <a:solidFill>
            <a:srgbClr val="EF1E2D"/>
          </a:solidFill>
          <a:ln>
            <a:solidFill>
              <a:srgbClr val="EF1E2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Regras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88920" y="1874520"/>
            <a:ext cx="2880360" cy="1874520"/>
          </a:xfrm>
          <a:prstGeom prst="rect">
            <a:avLst/>
          </a:prstGeom>
          <a:solidFill>
            <a:srgbClr val="F7F7F7"/>
          </a:solidFill>
          <a:ln w="12700">
            <a:solidFill>
              <a:srgbClr val="D9D9D9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17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Não usar dados pessoais reais.</a:t>
            </a:r>
            <a:endParaRPr lang="en-US" sz="1170" dirty="0"/>
          </a:p>
          <a:p>
            <a:pPr algn="l" indent="0" marL="0">
              <a:buNone/>
            </a:pPr>
            <a:r>
              <a:rPr lang="en-US" sz="117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Não fazer login em conta bancária, saúde ou compras.</a:t>
            </a:r>
            <a:endParaRPr lang="en-US" sz="1170" dirty="0"/>
          </a:p>
          <a:p>
            <a:pPr algn="l" indent="0" marL="0">
              <a:buNone/>
            </a:pPr>
            <a:r>
              <a:rPr lang="en-US" sz="117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Testar somente telas públicas ou simulações.</a:t>
            </a:r>
            <a:endParaRPr lang="en-US" sz="1170" dirty="0"/>
          </a:p>
          <a:p>
            <a:pPr algn="l" indent="0" marL="0">
              <a:buNone/>
            </a:pPr>
            <a:r>
              <a:rPr lang="en-US" sz="117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Registrar evidências por descrição, sem expor dados.</a:t>
            </a:r>
            <a:endParaRPr lang="en-US" sz="1170" dirty="0"/>
          </a:p>
        </p:txBody>
      </p:sp>
      <p:sp>
        <p:nvSpPr>
          <p:cNvPr id="11" name="Text 9"/>
          <p:cNvSpPr/>
          <p:nvPr/>
        </p:nvSpPr>
        <p:spPr>
          <a:xfrm>
            <a:off x="5989320" y="1417320"/>
            <a:ext cx="2468880" cy="347472"/>
          </a:xfrm>
          <a:prstGeom prst="rect">
            <a:avLst/>
          </a:prstGeom>
          <a:solidFill>
            <a:srgbClr val="EF1E2D"/>
          </a:solidFill>
          <a:ln>
            <a:solidFill>
              <a:srgbClr val="EF1E2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Critérios principais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89320" y="1874520"/>
            <a:ext cx="2926080" cy="2011680"/>
          </a:xfrm>
          <a:prstGeom prst="rect">
            <a:avLst/>
          </a:prstGeom>
          <a:solidFill>
            <a:srgbClr val="F7F7F7"/>
          </a:solidFill>
          <a:ln w="12700">
            <a:solidFill>
              <a:srgbClr val="D9D9D9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Acessibilidade:</a:t>
            </a: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leitor de tela, contraste, tamanho dos botões, textos claros, navegação.</a:t>
            </a:r>
            <a:endParaRPr lang="en-US" sz="1180" dirty="0"/>
          </a:p>
          <a:p>
            <a:pPr algn="l" indent="0" marL="0">
              <a:buNone/>
            </a:pP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Usabilidade:</a:t>
            </a: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facilidade, tempo, erros, número de toques e satisfação.</a:t>
            </a:r>
            <a:endParaRPr lang="en-US" sz="1180" dirty="0"/>
          </a:p>
        </p:txBody>
      </p:sp>
      <p:sp>
        <p:nvSpPr>
          <p:cNvPr id="13" name="Text 11"/>
          <p:cNvSpPr/>
          <p:nvPr/>
        </p:nvSpPr>
        <p:spPr>
          <a:xfrm>
            <a:off x="9189720" y="1417320"/>
            <a:ext cx="2057400" cy="347472"/>
          </a:xfrm>
          <a:prstGeom prst="rect">
            <a:avLst/>
          </a:prstGeom>
          <a:solidFill>
            <a:srgbClr val="EF1E2D"/>
          </a:solidFill>
          <a:ln>
            <a:solidFill>
              <a:srgbClr val="EF1E2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Entrega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89720" y="1874520"/>
            <a:ext cx="2057400" cy="1325880"/>
          </a:xfrm>
          <a:prstGeom prst="rect">
            <a:avLst/>
          </a:prstGeom>
          <a:solidFill>
            <a:srgbClr val="EAF5FA"/>
          </a:solidFill>
          <a:ln w="12700">
            <a:solidFill>
              <a:srgbClr val="4F9AC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grupo deve entregar os slides preenchidos e apresentar o app analisado.</a:t>
            </a:r>
            <a:endParaRPr lang="en-US" sz="1280" dirty="0"/>
          </a:p>
        </p:txBody>
      </p:sp>
      <p:sp>
        <p:nvSpPr>
          <p:cNvPr id="15" name="Text 13"/>
          <p:cNvSpPr/>
          <p:nvPr/>
        </p:nvSpPr>
        <p:spPr>
          <a:xfrm>
            <a:off x="685800" y="4251960"/>
            <a:ext cx="105613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Divisão do grupo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Testador 1: __________________________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Testador 2: __________________________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Relator: ______________________________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Apresentador: ________________________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201400" y="6446520"/>
            <a:ext cx="438912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F1E2D"/>
          </a:solidFill>
          <a:ln w="12700">
            <a:solidFill>
              <a:srgbClr val="EF1E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4F9AC1"/>
          </a:solidFill>
          <a:ln w="12700">
            <a:solidFill>
              <a:srgbClr val="4F9A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02336"/>
            <a:ext cx="896112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F1E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Apps que os grupos devem testar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832104"/>
            <a:ext cx="104241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777777"/>
                </a:solidFill>
              </a:rPr>
              <a:t>Escolha 1 app por grupo. Quando não houver celular, use a versão web no navegador.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9829800" y="438912"/>
            <a:ext cx="18288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11111"/>
                </a:solidFill>
              </a:rPr>
              <a:t>Acessibilidade e usabilidade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66928" y="1298448"/>
            <a:ext cx="35204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Google Maps</a:t>
            </a:r>
            <a:endParaRPr lang="en-US" sz="1060" dirty="0"/>
          </a:p>
          <a:p>
            <a:pPr algn="l" indent="0" marL="0">
              <a:buNone/>
            </a:pPr>
            <a:r>
              <a:rPr lang="en-US" sz="106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buscar um lugar e entender uma rota</a:t>
            </a:r>
            <a:endParaRPr lang="en-US" sz="1060" dirty="0"/>
          </a:p>
        </p:txBody>
      </p:sp>
      <p:sp>
        <p:nvSpPr>
          <p:cNvPr id="8" name="Text 6"/>
          <p:cNvSpPr/>
          <p:nvPr/>
        </p:nvSpPr>
        <p:spPr>
          <a:xfrm>
            <a:off x="566928" y="1828800"/>
            <a:ext cx="3520440" cy="420624"/>
          </a:xfrm>
          <a:prstGeom prst="rect">
            <a:avLst/>
          </a:prstGeom>
          <a:solidFill>
            <a:srgbClr val="FAFAFA"/>
          </a:solidFill>
          <a:ln w="12700">
            <a:solidFill>
              <a:srgbClr val="D9D9D9"/>
            </a:solidFill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YouTube</a:t>
            </a:r>
            <a:endParaRPr lang="en-US" sz="1060" dirty="0"/>
          </a:p>
          <a:p>
            <a:pPr algn="l" indent="0" marL="0">
              <a:buNone/>
            </a:pPr>
            <a:r>
              <a:rPr lang="en-US" sz="106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procurar vídeo e ativar legenda</a:t>
            </a:r>
            <a:endParaRPr lang="en-US" sz="1060" dirty="0"/>
          </a:p>
        </p:txBody>
      </p:sp>
      <p:sp>
        <p:nvSpPr>
          <p:cNvPr id="9" name="Text 7"/>
          <p:cNvSpPr/>
          <p:nvPr/>
        </p:nvSpPr>
        <p:spPr>
          <a:xfrm>
            <a:off x="566928" y="2359152"/>
            <a:ext cx="35204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Wikipedia</a:t>
            </a:r>
            <a:endParaRPr lang="en-US" sz="1060" dirty="0"/>
          </a:p>
          <a:p>
            <a:pPr algn="l" indent="0" marL="0">
              <a:buNone/>
            </a:pPr>
            <a:r>
              <a:rPr lang="en-US" sz="106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buscar tema e ler informações</a:t>
            </a:r>
            <a:endParaRPr lang="en-US" sz="1060" dirty="0"/>
          </a:p>
        </p:txBody>
      </p:sp>
      <p:sp>
        <p:nvSpPr>
          <p:cNvPr id="10" name="Text 8"/>
          <p:cNvSpPr/>
          <p:nvPr/>
        </p:nvSpPr>
        <p:spPr>
          <a:xfrm>
            <a:off x="566928" y="2889504"/>
            <a:ext cx="3520440" cy="420624"/>
          </a:xfrm>
          <a:prstGeom prst="rect">
            <a:avLst/>
          </a:prstGeom>
          <a:solidFill>
            <a:srgbClr val="FAFAFA"/>
          </a:solidFill>
          <a:ln w="12700">
            <a:solidFill>
              <a:srgbClr val="D9D9D9"/>
            </a:solidFill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Mercado Livre</a:t>
            </a:r>
            <a:endParaRPr lang="en-US" sz="1060" dirty="0"/>
          </a:p>
          <a:p>
            <a:pPr algn="l" indent="0" marL="0">
              <a:buNone/>
            </a:pPr>
            <a:r>
              <a:rPr lang="en-US" sz="106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procurar produto sem finalizar compra</a:t>
            </a:r>
            <a:endParaRPr lang="en-US" sz="1060" dirty="0"/>
          </a:p>
        </p:txBody>
      </p:sp>
      <p:sp>
        <p:nvSpPr>
          <p:cNvPr id="11" name="Text 9"/>
          <p:cNvSpPr/>
          <p:nvPr/>
        </p:nvSpPr>
        <p:spPr>
          <a:xfrm>
            <a:off x="566928" y="3419856"/>
            <a:ext cx="35204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OLX</a:t>
            </a:r>
            <a:endParaRPr lang="en-US" sz="1060" dirty="0"/>
          </a:p>
          <a:p>
            <a:pPr algn="l" indent="0" marL="0">
              <a:buNone/>
            </a:pPr>
            <a:r>
              <a:rPr lang="en-US" sz="106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procurar anúncio sem contato real</a:t>
            </a:r>
            <a:endParaRPr lang="en-US" sz="1060" dirty="0"/>
          </a:p>
        </p:txBody>
      </p:sp>
      <p:sp>
        <p:nvSpPr>
          <p:cNvPr id="12" name="Text 10"/>
          <p:cNvSpPr/>
          <p:nvPr/>
        </p:nvSpPr>
        <p:spPr>
          <a:xfrm>
            <a:off x="4407408" y="1298448"/>
            <a:ext cx="3520440" cy="420624"/>
          </a:xfrm>
          <a:prstGeom prst="rect">
            <a:avLst/>
          </a:prstGeom>
          <a:solidFill>
            <a:srgbClr val="FAFAFA"/>
          </a:solidFill>
          <a:ln w="12700">
            <a:solidFill>
              <a:srgbClr val="D9D9D9"/>
            </a:solidFill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Canva</a:t>
            </a:r>
            <a:endParaRPr lang="en-US" sz="1060" dirty="0"/>
          </a:p>
          <a:p>
            <a:pPr algn="l" indent="0" marL="0">
              <a:buNone/>
            </a:pPr>
            <a:r>
              <a:rPr lang="en-US" sz="106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encontrar um modelo e editar título</a:t>
            </a:r>
            <a:endParaRPr lang="en-US" sz="1060" dirty="0"/>
          </a:p>
        </p:txBody>
      </p:sp>
      <p:sp>
        <p:nvSpPr>
          <p:cNvPr id="13" name="Text 11"/>
          <p:cNvSpPr/>
          <p:nvPr/>
        </p:nvSpPr>
        <p:spPr>
          <a:xfrm>
            <a:off x="4407408" y="1828800"/>
            <a:ext cx="35204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Duolingo</a:t>
            </a:r>
            <a:endParaRPr lang="en-US" sz="1060" dirty="0"/>
          </a:p>
          <a:p>
            <a:pPr algn="l" indent="0" marL="0">
              <a:buNone/>
            </a:pPr>
            <a:r>
              <a:rPr lang="en-US" sz="106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iniciar uma atividade simples</a:t>
            </a:r>
            <a:endParaRPr lang="en-US" sz="1060" dirty="0"/>
          </a:p>
        </p:txBody>
      </p:sp>
      <p:sp>
        <p:nvSpPr>
          <p:cNvPr id="14" name="Text 12"/>
          <p:cNvSpPr/>
          <p:nvPr/>
        </p:nvSpPr>
        <p:spPr>
          <a:xfrm>
            <a:off x="4407408" y="2359152"/>
            <a:ext cx="3520440" cy="420624"/>
          </a:xfrm>
          <a:prstGeom prst="rect">
            <a:avLst/>
          </a:prstGeom>
          <a:solidFill>
            <a:srgbClr val="FAFAFA"/>
          </a:solidFill>
          <a:ln w="12700">
            <a:solidFill>
              <a:srgbClr val="D9D9D9"/>
            </a:solidFill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Google Agenda</a:t>
            </a:r>
            <a:endParaRPr lang="en-US" sz="1060" dirty="0"/>
          </a:p>
          <a:p>
            <a:pPr algn="l" indent="0" marL="0">
              <a:buNone/>
            </a:pPr>
            <a:r>
              <a:rPr lang="en-US" sz="106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criar evento fictício</a:t>
            </a:r>
            <a:endParaRPr lang="en-US" sz="1060" dirty="0"/>
          </a:p>
        </p:txBody>
      </p:sp>
      <p:sp>
        <p:nvSpPr>
          <p:cNvPr id="15" name="Text 13"/>
          <p:cNvSpPr/>
          <p:nvPr/>
        </p:nvSpPr>
        <p:spPr>
          <a:xfrm>
            <a:off x="4407408" y="2889504"/>
            <a:ext cx="35204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Spotify</a:t>
            </a:r>
            <a:endParaRPr lang="en-US" sz="1060" dirty="0"/>
          </a:p>
          <a:p>
            <a:pPr algn="l" indent="0" marL="0">
              <a:buNone/>
            </a:pPr>
            <a:r>
              <a:rPr lang="en-US" sz="106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buscar música ou podcast</a:t>
            </a:r>
            <a:endParaRPr lang="en-US" sz="1060" dirty="0"/>
          </a:p>
        </p:txBody>
      </p:sp>
      <p:sp>
        <p:nvSpPr>
          <p:cNvPr id="16" name="Text 14"/>
          <p:cNvSpPr/>
          <p:nvPr/>
        </p:nvSpPr>
        <p:spPr>
          <a:xfrm>
            <a:off x="4407408" y="3419856"/>
            <a:ext cx="3520440" cy="420624"/>
          </a:xfrm>
          <a:prstGeom prst="rect">
            <a:avLst/>
          </a:prstGeom>
          <a:solidFill>
            <a:srgbClr val="FAFAFA"/>
          </a:solidFill>
          <a:ln w="12700">
            <a:solidFill>
              <a:srgbClr val="D9D9D9"/>
            </a:solidFill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App/site da escola</a:t>
            </a:r>
            <a:endParaRPr lang="en-US" sz="1060" dirty="0"/>
          </a:p>
          <a:p>
            <a:pPr algn="l" indent="0" marL="0">
              <a:buNone/>
            </a:pPr>
            <a:r>
              <a:rPr lang="en-US" sz="106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testar página indicada pelo professor</a:t>
            </a:r>
            <a:endParaRPr lang="en-US" sz="1060" dirty="0"/>
          </a:p>
        </p:txBody>
      </p:sp>
      <p:sp>
        <p:nvSpPr>
          <p:cNvPr id="17" name="Text 15"/>
          <p:cNvSpPr/>
          <p:nvPr/>
        </p:nvSpPr>
        <p:spPr>
          <a:xfrm>
            <a:off x="8275320" y="1298448"/>
            <a:ext cx="2743200" cy="310896"/>
          </a:xfrm>
          <a:prstGeom prst="rect">
            <a:avLst/>
          </a:prstGeom>
          <a:solidFill>
            <a:srgbClr val="4F9AC1"/>
          </a:solidFill>
          <a:ln>
            <a:solidFill>
              <a:srgbClr val="4F9AC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Ferramentas auxiliares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75320" y="1737360"/>
            <a:ext cx="2743200" cy="2240280"/>
          </a:xfrm>
          <a:prstGeom prst="rect">
            <a:avLst/>
          </a:prstGeom>
          <a:solidFill>
            <a:srgbClr val="EAF5FA"/>
          </a:solidFill>
          <a:ln w="12700">
            <a:solidFill>
              <a:srgbClr val="4F9AC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TalkBack: Android</a:t>
            </a:r>
            <a:endParaRPr lang="en-US" sz="1160" dirty="0"/>
          </a:p>
          <a:p>
            <a:pPr algn="l" indent="0" marL="0">
              <a:buNone/>
            </a:pPr>
            <a:r>
              <a:rPr lang="en-US" sz="116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VoiceOver: iPhone</a:t>
            </a:r>
            <a:endParaRPr lang="en-US" sz="1160" dirty="0"/>
          </a:p>
          <a:p>
            <a:pPr algn="l" indent="0" marL="0">
              <a:buNone/>
            </a:pPr>
            <a:r>
              <a:rPr lang="en-US" sz="116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Lupa / zoom do sistema</a:t>
            </a:r>
            <a:endParaRPr lang="en-US" sz="1160" dirty="0"/>
          </a:p>
          <a:p>
            <a:pPr algn="l" indent="0" marL="0">
              <a:buNone/>
            </a:pPr>
            <a:r>
              <a:rPr lang="en-US" sz="116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Aumentar tamanho do texto</a:t>
            </a:r>
            <a:endParaRPr lang="en-US" sz="1160" dirty="0"/>
          </a:p>
          <a:p>
            <a:pPr algn="l" indent="0" marL="0">
              <a:buNone/>
            </a:pPr>
            <a:r>
              <a:rPr lang="en-US" sz="116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Modo alto contraste</a:t>
            </a:r>
            <a:endParaRPr lang="en-US" sz="1160" dirty="0"/>
          </a:p>
          <a:p>
            <a:pPr algn="l" indent="0" marL="0">
              <a:buNone/>
            </a:pPr>
            <a:r>
              <a:rPr lang="en-US" sz="116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Verificador de contraste no navegador</a:t>
            </a:r>
            <a:endParaRPr lang="en-US" sz="1160" dirty="0"/>
          </a:p>
        </p:txBody>
      </p:sp>
      <p:sp>
        <p:nvSpPr>
          <p:cNvPr id="19" name="Text 17"/>
          <p:cNvSpPr/>
          <p:nvPr/>
        </p:nvSpPr>
        <p:spPr>
          <a:xfrm>
            <a:off x="685800" y="4617720"/>
            <a:ext cx="10561320" cy="1051560"/>
          </a:xfrm>
          <a:prstGeom prst="rect">
            <a:avLst/>
          </a:prstGeom>
          <a:solidFill>
            <a:srgbClr val="F7F7F7"/>
          </a:solidFill>
          <a:ln w="12700">
            <a:solidFill>
              <a:srgbClr val="D9D9D9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escolhido pelo grupo:</a:t>
            </a:r>
            <a:endParaRPr lang="en-US" sz="1320" dirty="0"/>
          </a:p>
          <a:p>
            <a:pPr algn="l" indent="0" marL="0">
              <a:buNone/>
            </a:pP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____________________________________________________</a:t>
            </a:r>
            <a:endParaRPr lang="en-US" sz="1320" dirty="0"/>
          </a:p>
          <a:p>
            <a:pPr algn="l" indent="0" marL="0">
              <a:buNone/>
            </a:pP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esse app foi escolhido?</a:t>
            </a:r>
            <a:endParaRPr lang="en-US" sz="1320" dirty="0"/>
          </a:p>
          <a:p>
            <a:pPr algn="l" indent="0" marL="0">
              <a:buNone/>
            </a:pP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____________________________________________________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____________________________________________________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11201400" y="6446520"/>
            <a:ext cx="438912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F1E2D"/>
          </a:solidFill>
          <a:ln w="12700">
            <a:solidFill>
              <a:srgbClr val="EF1E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4F9AC1"/>
          </a:solidFill>
          <a:ln w="12700">
            <a:solidFill>
              <a:srgbClr val="4F9A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02336"/>
            <a:ext cx="896112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F1E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Perfil do usuário testado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832104"/>
            <a:ext cx="104241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777777"/>
                </a:solidFill>
              </a:rPr>
              <a:t>Pense em usuários reais. O app precisa funcionar para pessoas diferentes.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9829800" y="438912"/>
            <a:ext cx="18288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11111"/>
                </a:solidFill>
              </a:rPr>
              <a:t>Acessibilidade e usabilidade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85800" y="1325880"/>
            <a:ext cx="3474720" cy="310896"/>
          </a:xfrm>
          <a:prstGeom prst="rect">
            <a:avLst/>
          </a:prstGeom>
          <a:solidFill>
            <a:srgbClr val="EF1E2D"/>
          </a:solidFill>
          <a:ln w="12700">
            <a:solidFill>
              <a:srgbClr val="EF1E2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 1: usuário com baixa visão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1783080"/>
            <a:ext cx="34747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Nome fictício: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Dificuldade principal: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ele precisa fazer no app?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434840" y="1325880"/>
            <a:ext cx="3474720" cy="310896"/>
          </a:xfrm>
          <a:prstGeom prst="rect">
            <a:avLst/>
          </a:prstGeom>
          <a:solidFill>
            <a:srgbClr val="EF1E2D"/>
          </a:solidFill>
          <a:ln w="12700">
            <a:solidFill>
              <a:srgbClr val="EF1E2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 2: usuário com dificuldade motora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434840" y="1783080"/>
            <a:ext cx="34747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Nome fictício: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Dificuldade principal: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ele precisa fazer no app?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183880" y="1325880"/>
            <a:ext cx="3108960" cy="310896"/>
          </a:xfrm>
          <a:prstGeom prst="rect">
            <a:avLst/>
          </a:prstGeom>
          <a:solidFill>
            <a:srgbClr val="EF1E2D"/>
          </a:solidFill>
          <a:ln w="12700">
            <a:solidFill>
              <a:srgbClr val="EF1E2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 3: usuário iniciante em tecnologia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83880" y="1783080"/>
            <a:ext cx="31089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Nome fictício: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Dificuldade principal: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ele precisa fazer no app?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4434840"/>
            <a:ext cx="10607040" cy="1097280"/>
          </a:xfrm>
          <a:prstGeom prst="rect">
            <a:avLst/>
          </a:prstGeom>
          <a:solidFill>
            <a:srgbClr val="F7F7F7"/>
          </a:solidFill>
          <a:ln w="12700">
            <a:solidFill>
              <a:srgbClr val="D9D9D9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Conclusão inicial: quais usuários podem ter mais dificuldade nesse app? Por quê?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________________________________________________________________________________________________________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________________________________________________________________________________________________________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201400" y="6446520"/>
            <a:ext cx="438912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F1E2D"/>
          </a:solidFill>
          <a:ln w="12700">
            <a:solidFill>
              <a:srgbClr val="EF1E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4F9AC1"/>
          </a:solidFill>
          <a:ln w="12700">
            <a:solidFill>
              <a:srgbClr val="4F9A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02336"/>
            <a:ext cx="896112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F1E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Roteiro de tarefas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832104"/>
            <a:ext cx="104241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777777"/>
                </a:solidFill>
              </a:rPr>
              <a:t>Defina tarefas simples, observáveis e possíveis de medir.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9829800" y="438912"/>
            <a:ext cx="18288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11111"/>
                </a:solidFill>
              </a:rPr>
              <a:t>Acessibilidade e usabilidade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2560320" cy="347472"/>
          </a:xfrm>
          <a:prstGeom prst="rect">
            <a:avLst/>
          </a:prstGeom>
          <a:solidFill>
            <a:srgbClr val="4F9AC1"/>
          </a:solidFill>
          <a:ln w="12700">
            <a:solidFill>
              <a:srgbClr val="4F9AC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Tarefa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246120" y="1417320"/>
            <a:ext cx="4572000" cy="347472"/>
          </a:xfrm>
          <a:prstGeom prst="rect">
            <a:avLst/>
          </a:prstGeom>
          <a:solidFill>
            <a:srgbClr val="4F9AC1"/>
          </a:solidFill>
          <a:ln w="12700">
            <a:solidFill>
              <a:srgbClr val="4F9AC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executar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818120" y="1417320"/>
            <a:ext cx="1554480" cy="347472"/>
          </a:xfrm>
          <a:prstGeom prst="rect">
            <a:avLst/>
          </a:prstGeom>
          <a:solidFill>
            <a:srgbClr val="4F9AC1"/>
          </a:solidFill>
          <a:ln w="12700">
            <a:solidFill>
              <a:srgbClr val="4F9AC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Concluiu? Sim/Não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372600" y="1417320"/>
            <a:ext cx="1828800" cy="347472"/>
          </a:xfrm>
          <a:prstGeom prst="rect">
            <a:avLst/>
          </a:prstGeom>
          <a:solidFill>
            <a:srgbClr val="4F9AC1"/>
          </a:solidFill>
          <a:ln w="12700">
            <a:solidFill>
              <a:srgbClr val="4F9AC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 aproximado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85800" y="1764792"/>
            <a:ext cx="2560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Tarefa 1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3246120" y="1764792"/>
            <a:ext cx="4572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818120" y="1764792"/>
            <a:ext cx="1554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372600" y="1764792"/>
            <a:ext cx="1828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" y="2423160"/>
            <a:ext cx="2560320" cy="658368"/>
          </a:xfrm>
          <a:prstGeom prst="rect">
            <a:avLst/>
          </a:prstGeom>
          <a:solidFill>
            <a:srgbClr val="FAFAFA"/>
          </a:solidFill>
          <a:ln w="12700">
            <a:solidFill>
              <a:srgbClr val="D9D9D9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Tarefa 2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3246120" y="2423160"/>
            <a:ext cx="4572000" cy="658368"/>
          </a:xfrm>
          <a:prstGeom prst="rect">
            <a:avLst/>
          </a:prstGeom>
          <a:solidFill>
            <a:srgbClr val="FAFAFA"/>
          </a:solidFill>
          <a:ln w="12700">
            <a:solidFill>
              <a:srgbClr val="D9D9D9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818120" y="2423160"/>
            <a:ext cx="1554480" cy="658368"/>
          </a:xfrm>
          <a:prstGeom prst="rect">
            <a:avLst/>
          </a:prstGeom>
          <a:solidFill>
            <a:srgbClr val="FAFAFA"/>
          </a:solidFill>
          <a:ln w="12700">
            <a:solidFill>
              <a:srgbClr val="D9D9D9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372600" y="2423160"/>
            <a:ext cx="1828800" cy="658368"/>
          </a:xfrm>
          <a:prstGeom prst="rect">
            <a:avLst/>
          </a:prstGeom>
          <a:solidFill>
            <a:srgbClr val="FAFAFA"/>
          </a:solidFill>
          <a:ln w="12700">
            <a:solidFill>
              <a:srgbClr val="D9D9D9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3081528"/>
            <a:ext cx="2560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Tarefa 3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3246120" y="3081528"/>
            <a:ext cx="4572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818120" y="3081528"/>
            <a:ext cx="1554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372600" y="3081528"/>
            <a:ext cx="1828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" y="3739896"/>
            <a:ext cx="2560320" cy="658368"/>
          </a:xfrm>
          <a:prstGeom prst="rect">
            <a:avLst/>
          </a:prstGeom>
          <a:solidFill>
            <a:srgbClr val="FAFAFA"/>
          </a:solidFill>
          <a:ln w="12700">
            <a:solidFill>
              <a:srgbClr val="D9D9D9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Tarefa Extra</a:t>
            </a:r>
            <a:endParaRPr lang="en-US" sz="1220" dirty="0"/>
          </a:p>
        </p:txBody>
      </p:sp>
      <p:sp>
        <p:nvSpPr>
          <p:cNvPr id="24" name="Text 22"/>
          <p:cNvSpPr/>
          <p:nvPr/>
        </p:nvSpPr>
        <p:spPr>
          <a:xfrm>
            <a:off x="3246120" y="3739896"/>
            <a:ext cx="4572000" cy="658368"/>
          </a:xfrm>
          <a:prstGeom prst="rect">
            <a:avLst/>
          </a:prstGeom>
          <a:solidFill>
            <a:srgbClr val="FAFAFA"/>
          </a:solidFill>
          <a:ln w="12700">
            <a:solidFill>
              <a:srgbClr val="D9D9D9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818120" y="3739896"/>
            <a:ext cx="1554480" cy="658368"/>
          </a:xfrm>
          <a:prstGeom prst="rect">
            <a:avLst/>
          </a:prstGeom>
          <a:solidFill>
            <a:srgbClr val="FAFAFA"/>
          </a:solidFill>
          <a:ln w="12700">
            <a:solidFill>
              <a:srgbClr val="D9D9D9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372600" y="3739896"/>
            <a:ext cx="1828800" cy="658368"/>
          </a:xfrm>
          <a:prstGeom prst="rect">
            <a:avLst/>
          </a:prstGeom>
          <a:solidFill>
            <a:srgbClr val="FAFAFA"/>
          </a:solidFill>
          <a:ln w="12700">
            <a:solidFill>
              <a:srgbClr val="D9D9D9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5800" y="4754880"/>
            <a:ext cx="10515600" cy="566928"/>
          </a:xfrm>
          <a:prstGeom prst="rect">
            <a:avLst/>
          </a:prstGeom>
          <a:solidFill>
            <a:srgbClr val="EAF5FA"/>
          </a:solidFill>
          <a:ln w="12700">
            <a:solidFill>
              <a:srgbClr val="4F9AC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 de tarefa: “Encontrar a opção de busca”, “voltar para a tela inicial”, “alterar tamanho do texto”, “encontrar ajuda”.</a:t>
            </a:r>
            <a:endParaRPr lang="en-US" sz="1220" dirty="0"/>
          </a:p>
        </p:txBody>
      </p:sp>
      <p:sp>
        <p:nvSpPr>
          <p:cNvPr id="28" name="Text 26"/>
          <p:cNvSpPr/>
          <p:nvPr/>
        </p:nvSpPr>
        <p:spPr>
          <a:xfrm>
            <a:off x="11201400" y="6446520"/>
            <a:ext cx="438912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F1E2D"/>
          </a:solidFill>
          <a:ln w="12700">
            <a:solidFill>
              <a:srgbClr val="EF1E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4F9AC1"/>
          </a:solidFill>
          <a:ln w="12700">
            <a:solidFill>
              <a:srgbClr val="4F9A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02336"/>
            <a:ext cx="896112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F1E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Checklist de acessibilidade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832104"/>
            <a:ext cx="104241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777777"/>
                </a:solidFill>
              </a:rPr>
              <a:t>Marque Sim/Não e escreva uma observação objetiva.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9829800" y="438912"/>
            <a:ext cx="18288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11111"/>
                </a:solidFill>
              </a:rPr>
              <a:t>Acessibilidade e usabilidade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4617720" cy="347472"/>
          </a:xfrm>
          <a:prstGeom prst="rect">
            <a:avLst/>
          </a:prstGeom>
          <a:solidFill>
            <a:srgbClr val="4F9AC1"/>
          </a:solidFill>
          <a:ln w="12700">
            <a:solidFill>
              <a:srgbClr val="4F9AC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Critério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303520" y="1234440"/>
            <a:ext cx="822960" cy="347472"/>
          </a:xfrm>
          <a:prstGeom prst="rect">
            <a:avLst/>
          </a:prstGeom>
          <a:solidFill>
            <a:srgbClr val="4F9AC1"/>
          </a:solidFill>
          <a:ln w="12700">
            <a:solidFill>
              <a:srgbClr val="4F9AC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126480" y="1234440"/>
            <a:ext cx="822960" cy="347472"/>
          </a:xfrm>
          <a:prstGeom prst="rect">
            <a:avLst/>
          </a:prstGeom>
          <a:solidFill>
            <a:srgbClr val="4F9AC1"/>
          </a:solidFill>
          <a:ln w="12700">
            <a:solidFill>
              <a:srgbClr val="4F9AC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949440" y="1234440"/>
            <a:ext cx="4251960" cy="347472"/>
          </a:xfrm>
          <a:prstGeom prst="rect">
            <a:avLst/>
          </a:prstGeom>
          <a:solidFill>
            <a:srgbClr val="4F9AC1"/>
          </a:solidFill>
          <a:ln w="12700">
            <a:solidFill>
              <a:srgbClr val="4F9AC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Observação / evidência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85800" y="1581912"/>
            <a:ext cx="4617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09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Elementos importantes têm nome claro no leitor de tela.</a:t>
            </a:r>
            <a:endParaRPr lang="en-US" sz="1090" dirty="0"/>
          </a:p>
        </p:txBody>
      </p:sp>
      <p:sp>
        <p:nvSpPr>
          <p:cNvPr id="12" name="Text 10"/>
          <p:cNvSpPr/>
          <p:nvPr/>
        </p:nvSpPr>
        <p:spPr>
          <a:xfrm>
            <a:off x="5303520" y="1581912"/>
            <a:ext cx="8229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126480" y="1581912"/>
            <a:ext cx="8229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949440" y="1581912"/>
            <a:ext cx="42519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2112264"/>
            <a:ext cx="4617720" cy="530352"/>
          </a:xfrm>
          <a:prstGeom prst="rect">
            <a:avLst/>
          </a:prstGeom>
          <a:solidFill>
            <a:srgbClr val="FAFAFA"/>
          </a:solidFill>
          <a:ln w="12700">
            <a:solidFill>
              <a:srgbClr val="D9D9D9"/>
            </a:solidFill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09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Textos e botões são grandes o suficiente.</a:t>
            </a:r>
            <a:endParaRPr lang="en-US" sz="1090" dirty="0"/>
          </a:p>
        </p:txBody>
      </p:sp>
      <p:sp>
        <p:nvSpPr>
          <p:cNvPr id="16" name="Text 14"/>
          <p:cNvSpPr/>
          <p:nvPr/>
        </p:nvSpPr>
        <p:spPr>
          <a:xfrm>
            <a:off x="5303520" y="2112264"/>
            <a:ext cx="822960" cy="530352"/>
          </a:xfrm>
          <a:prstGeom prst="rect">
            <a:avLst/>
          </a:prstGeom>
          <a:solidFill>
            <a:srgbClr val="FAFAFA"/>
          </a:solidFill>
          <a:ln w="12700">
            <a:solidFill>
              <a:srgbClr val="D9D9D9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26480" y="2112264"/>
            <a:ext cx="822960" cy="530352"/>
          </a:xfrm>
          <a:prstGeom prst="rect">
            <a:avLst/>
          </a:prstGeom>
          <a:solidFill>
            <a:srgbClr val="FAFAFA"/>
          </a:solidFill>
          <a:ln w="12700">
            <a:solidFill>
              <a:srgbClr val="D9D9D9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49440" y="2112264"/>
            <a:ext cx="4251960" cy="530352"/>
          </a:xfrm>
          <a:prstGeom prst="rect">
            <a:avLst/>
          </a:prstGeom>
          <a:solidFill>
            <a:srgbClr val="FAFAFA"/>
          </a:solidFill>
          <a:ln w="12700">
            <a:solidFill>
              <a:srgbClr val="D9D9D9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" y="2642616"/>
            <a:ext cx="4617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09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Há bom contraste entre texto e fundo.</a:t>
            </a:r>
            <a:endParaRPr lang="en-US" sz="1090" dirty="0"/>
          </a:p>
        </p:txBody>
      </p:sp>
      <p:sp>
        <p:nvSpPr>
          <p:cNvPr id="20" name="Text 18"/>
          <p:cNvSpPr/>
          <p:nvPr/>
        </p:nvSpPr>
        <p:spPr>
          <a:xfrm>
            <a:off x="5303520" y="2642616"/>
            <a:ext cx="8229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126480" y="2642616"/>
            <a:ext cx="8229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49440" y="2642616"/>
            <a:ext cx="42519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5800" y="3172968"/>
            <a:ext cx="4617720" cy="530352"/>
          </a:xfrm>
          <a:prstGeom prst="rect">
            <a:avLst/>
          </a:prstGeom>
          <a:solidFill>
            <a:srgbClr val="FAFAFA"/>
          </a:solidFill>
          <a:ln w="12700">
            <a:solidFill>
              <a:srgbClr val="D9D9D9"/>
            </a:solidFill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09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possível navegar sem movimentos muito precisos.</a:t>
            </a:r>
            <a:endParaRPr lang="en-US" sz="1090" dirty="0"/>
          </a:p>
        </p:txBody>
      </p:sp>
      <p:sp>
        <p:nvSpPr>
          <p:cNvPr id="24" name="Text 22"/>
          <p:cNvSpPr/>
          <p:nvPr/>
        </p:nvSpPr>
        <p:spPr>
          <a:xfrm>
            <a:off x="5303520" y="3172968"/>
            <a:ext cx="822960" cy="530352"/>
          </a:xfrm>
          <a:prstGeom prst="rect">
            <a:avLst/>
          </a:prstGeom>
          <a:solidFill>
            <a:srgbClr val="FAFAFA"/>
          </a:solidFill>
          <a:ln w="12700">
            <a:solidFill>
              <a:srgbClr val="D9D9D9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126480" y="3172968"/>
            <a:ext cx="822960" cy="530352"/>
          </a:xfrm>
          <a:prstGeom prst="rect">
            <a:avLst/>
          </a:prstGeom>
          <a:solidFill>
            <a:srgbClr val="FAFAFA"/>
          </a:solidFill>
          <a:ln w="12700">
            <a:solidFill>
              <a:srgbClr val="D9D9D9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949440" y="3172968"/>
            <a:ext cx="4251960" cy="530352"/>
          </a:xfrm>
          <a:prstGeom prst="rect">
            <a:avLst/>
          </a:prstGeom>
          <a:solidFill>
            <a:srgbClr val="FAFAFA"/>
          </a:solidFill>
          <a:ln w="12700">
            <a:solidFill>
              <a:srgbClr val="D9D9D9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5800" y="3703320"/>
            <a:ext cx="4617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09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Ícones têm texto ou significado fácil de entender.</a:t>
            </a:r>
            <a:endParaRPr lang="en-US" sz="1090" dirty="0"/>
          </a:p>
        </p:txBody>
      </p:sp>
      <p:sp>
        <p:nvSpPr>
          <p:cNvPr id="28" name="Text 26"/>
          <p:cNvSpPr/>
          <p:nvPr/>
        </p:nvSpPr>
        <p:spPr>
          <a:xfrm>
            <a:off x="5303520" y="3703320"/>
            <a:ext cx="8229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126480" y="3703320"/>
            <a:ext cx="8229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949440" y="3703320"/>
            <a:ext cx="42519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85800" y="4233672"/>
            <a:ext cx="4617720" cy="530352"/>
          </a:xfrm>
          <a:prstGeom prst="rect">
            <a:avLst/>
          </a:prstGeom>
          <a:solidFill>
            <a:srgbClr val="FAFAFA"/>
          </a:solidFill>
          <a:ln w="12700">
            <a:solidFill>
              <a:srgbClr val="D9D9D9"/>
            </a:solidFill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09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app mostra feedback após toque ou ação.</a:t>
            </a:r>
            <a:endParaRPr lang="en-US" sz="1090" dirty="0"/>
          </a:p>
        </p:txBody>
      </p:sp>
      <p:sp>
        <p:nvSpPr>
          <p:cNvPr id="32" name="Text 30"/>
          <p:cNvSpPr/>
          <p:nvPr/>
        </p:nvSpPr>
        <p:spPr>
          <a:xfrm>
            <a:off x="5303520" y="4233672"/>
            <a:ext cx="822960" cy="530352"/>
          </a:xfrm>
          <a:prstGeom prst="rect">
            <a:avLst/>
          </a:prstGeom>
          <a:solidFill>
            <a:srgbClr val="FAFAFA"/>
          </a:solidFill>
          <a:ln w="12700">
            <a:solidFill>
              <a:srgbClr val="D9D9D9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126480" y="4233672"/>
            <a:ext cx="822960" cy="530352"/>
          </a:xfrm>
          <a:prstGeom prst="rect">
            <a:avLst/>
          </a:prstGeom>
          <a:solidFill>
            <a:srgbClr val="FAFAFA"/>
          </a:solidFill>
          <a:ln w="12700">
            <a:solidFill>
              <a:srgbClr val="D9D9D9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949440" y="4233672"/>
            <a:ext cx="4251960" cy="530352"/>
          </a:xfrm>
          <a:prstGeom prst="rect">
            <a:avLst/>
          </a:prstGeom>
          <a:solidFill>
            <a:srgbClr val="FAFAFA"/>
          </a:solidFill>
          <a:ln w="12700">
            <a:solidFill>
              <a:srgbClr val="D9D9D9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85800" y="5166360"/>
            <a:ext cx="10515600" cy="658368"/>
          </a:xfrm>
          <a:prstGeom prst="rect">
            <a:avLst/>
          </a:prstGeom>
          <a:solidFill>
            <a:srgbClr val="F7F7F7"/>
          </a:solidFill>
          <a:ln w="12700">
            <a:solidFill>
              <a:srgbClr val="D9D9D9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 mais grave de acessibilidade encontrado: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_____________________________________________________________________________________________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11201400" y="6446520"/>
            <a:ext cx="438912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F1E2D"/>
          </a:solidFill>
          <a:ln w="12700">
            <a:solidFill>
              <a:srgbClr val="EF1E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4F9AC1"/>
          </a:solidFill>
          <a:ln w="12700">
            <a:solidFill>
              <a:srgbClr val="4F9A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02336"/>
            <a:ext cx="896112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F1E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Checklist de usabilidade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832104"/>
            <a:ext cx="104241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777777"/>
                </a:solidFill>
              </a:rPr>
              <a:t>Acompanhe o usuário realizando as tarefas e registre dificuldade, erro e tempo.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9829800" y="438912"/>
            <a:ext cx="18288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11111"/>
                </a:solidFill>
              </a:rPr>
              <a:t>Acessibilidade e usabilidade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4069080" cy="347472"/>
          </a:xfrm>
          <a:prstGeom prst="rect">
            <a:avLst/>
          </a:prstGeom>
          <a:solidFill>
            <a:srgbClr val="4F9AC1"/>
          </a:solidFill>
          <a:ln w="12700">
            <a:solidFill>
              <a:srgbClr val="4F9AC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Critério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754880" y="1234440"/>
            <a:ext cx="1325880" cy="347472"/>
          </a:xfrm>
          <a:prstGeom prst="rect">
            <a:avLst/>
          </a:prstGeom>
          <a:solidFill>
            <a:srgbClr val="4F9AC1"/>
          </a:solidFill>
          <a:ln w="12700">
            <a:solidFill>
              <a:srgbClr val="4F9AC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 1 a 5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080760" y="1234440"/>
            <a:ext cx="5120640" cy="347472"/>
          </a:xfrm>
          <a:prstGeom prst="rect">
            <a:avLst/>
          </a:prstGeom>
          <a:solidFill>
            <a:srgbClr val="4F9AC1"/>
          </a:solidFill>
          <a:ln w="12700">
            <a:solidFill>
              <a:srgbClr val="4F9AC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Evidência observada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5800" y="1581912"/>
            <a:ext cx="4069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09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Foi fácil entender por onde começar.</a:t>
            </a:r>
            <a:endParaRPr lang="en-US" sz="1090" dirty="0"/>
          </a:p>
        </p:txBody>
      </p:sp>
      <p:sp>
        <p:nvSpPr>
          <p:cNvPr id="11" name="Text 9"/>
          <p:cNvSpPr/>
          <p:nvPr/>
        </p:nvSpPr>
        <p:spPr>
          <a:xfrm>
            <a:off x="4754880" y="1581912"/>
            <a:ext cx="13258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080760" y="1581912"/>
            <a:ext cx="51206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2112264"/>
            <a:ext cx="4069080" cy="530352"/>
          </a:xfrm>
          <a:prstGeom prst="rect">
            <a:avLst/>
          </a:prstGeom>
          <a:solidFill>
            <a:srgbClr val="FAFAFA"/>
          </a:solidFill>
          <a:ln w="12700">
            <a:solidFill>
              <a:srgbClr val="D9D9D9"/>
            </a:solidFill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09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nomes dos botões e menus são claros.</a:t>
            </a:r>
            <a:endParaRPr lang="en-US" sz="1090" dirty="0"/>
          </a:p>
        </p:txBody>
      </p:sp>
      <p:sp>
        <p:nvSpPr>
          <p:cNvPr id="14" name="Text 12"/>
          <p:cNvSpPr/>
          <p:nvPr/>
        </p:nvSpPr>
        <p:spPr>
          <a:xfrm>
            <a:off x="4754880" y="2112264"/>
            <a:ext cx="1325880" cy="530352"/>
          </a:xfrm>
          <a:prstGeom prst="rect">
            <a:avLst/>
          </a:prstGeom>
          <a:solidFill>
            <a:srgbClr val="FAFAFA"/>
          </a:solidFill>
          <a:ln w="12700">
            <a:solidFill>
              <a:srgbClr val="D9D9D9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080760" y="2112264"/>
            <a:ext cx="5120640" cy="530352"/>
          </a:xfrm>
          <a:prstGeom prst="rect">
            <a:avLst/>
          </a:prstGeom>
          <a:solidFill>
            <a:srgbClr val="FAFAFA"/>
          </a:solidFill>
          <a:ln w="12700">
            <a:solidFill>
              <a:srgbClr val="D9D9D9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2642616"/>
            <a:ext cx="4069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09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tarefa exigiu poucos passos/toques.</a:t>
            </a:r>
            <a:endParaRPr lang="en-US" sz="1090" dirty="0"/>
          </a:p>
        </p:txBody>
      </p:sp>
      <p:sp>
        <p:nvSpPr>
          <p:cNvPr id="17" name="Text 15"/>
          <p:cNvSpPr/>
          <p:nvPr/>
        </p:nvSpPr>
        <p:spPr>
          <a:xfrm>
            <a:off x="4754880" y="2642616"/>
            <a:ext cx="13258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080760" y="2642616"/>
            <a:ext cx="51206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" y="3172968"/>
            <a:ext cx="4069080" cy="530352"/>
          </a:xfrm>
          <a:prstGeom prst="rect">
            <a:avLst/>
          </a:prstGeom>
          <a:solidFill>
            <a:srgbClr val="FAFAFA"/>
          </a:solidFill>
          <a:ln w="12700">
            <a:solidFill>
              <a:srgbClr val="D9D9D9"/>
            </a:solidFill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09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usuário conseguiu corrigir erros ou voltar.</a:t>
            </a:r>
            <a:endParaRPr lang="en-US" sz="1090" dirty="0"/>
          </a:p>
        </p:txBody>
      </p:sp>
      <p:sp>
        <p:nvSpPr>
          <p:cNvPr id="20" name="Text 18"/>
          <p:cNvSpPr/>
          <p:nvPr/>
        </p:nvSpPr>
        <p:spPr>
          <a:xfrm>
            <a:off x="4754880" y="3172968"/>
            <a:ext cx="1325880" cy="530352"/>
          </a:xfrm>
          <a:prstGeom prst="rect">
            <a:avLst/>
          </a:prstGeom>
          <a:solidFill>
            <a:srgbClr val="FAFAFA"/>
          </a:solidFill>
          <a:ln w="12700">
            <a:solidFill>
              <a:srgbClr val="D9D9D9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080760" y="3172968"/>
            <a:ext cx="5120640" cy="530352"/>
          </a:xfrm>
          <a:prstGeom prst="rect">
            <a:avLst/>
          </a:prstGeom>
          <a:solidFill>
            <a:srgbClr val="FAFAFA"/>
          </a:solidFill>
          <a:ln w="12700">
            <a:solidFill>
              <a:srgbClr val="D9D9D9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5800" y="3703320"/>
            <a:ext cx="4069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09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app informa o que aconteceu após cada ação.</a:t>
            </a:r>
            <a:endParaRPr lang="en-US" sz="1090" dirty="0"/>
          </a:p>
        </p:txBody>
      </p:sp>
      <p:sp>
        <p:nvSpPr>
          <p:cNvPr id="23" name="Text 21"/>
          <p:cNvSpPr/>
          <p:nvPr/>
        </p:nvSpPr>
        <p:spPr>
          <a:xfrm>
            <a:off x="4754880" y="3703320"/>
            <a:ext cx="13258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080760" y="3703320"/>
            <a:ext cx="51206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5800" y="4233672"/>
            <a:ext cx="4069080" cy="530352"/>
          </a:xfrm>
          <a:prstGeom prst="rect">
            <a:avLst/>
          </a:prstGeom>
          <a:solidFill>
            <a:srgbClr val="FAFAFA"/>
          </a:solidFill>
          <a:ln w="12700">
            <a:solidFill>
              <a:srgbClr val="D9D9D9"/>
            </a:solidFill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09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usuário terminaria a tarefa sem ajuda.</a:t>
            </a:r>
            <a:endParaRPr lang="en-US" sz="1090" dirty="0"/>
          </a:p>
        </p:txBody>
      </p:sp>
      <p:sp>
        <p:nvSpPr>
          <p:cNvPr id="26" name="Text 24"/>
          <p:cNvSpPr/>
          <p:nvPr/>
        </p:nvSpPr>
        <p:spPr>
          <a:xfrm>
            <a:off x="4754880" y="4233672"/>
            <a:ext cx="1325880" cy="530352"/>
          </a:xfrm>
          <a:prstGeom prst="rect">
            <a:avLst/>
          </a:prstGeom>
          <a:solidFill>
            <a:srgbClr val="FAFAFA"/>
          </a:solidFill>
          <a:ln w="12700">
            <a:solidFill>
              <a:srgbClr val="D9D9D9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080760" y="4233672"/>
            <a:ext cx="5120640" cy="530352"/>
          </a:xfrm>
          <a:prstGeom prst="rect">
            <a:avLst/>
          </a:prstGeom>
          <a:solidFill>
            <a:srgbClr val="FAFAFA"/>
          </a:solidFill>
          <a:ln w="12700">
            <a:solidFill>
              <a:srgbClr val="D9D9D9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85800" y="5166360"/>
            <a:ext cx="10515600" cy="658368"/>
          </a:xfrm>
          <a:prstGeom prst="rect">
            <a:avLst/>
          </a:prstGeom>
          <a:solidFill>
            <a:srgbClr val="F7F7F7"/>
          </a:solidFill>
          <a:ln w="12700">
            <a:solidFill>
              <a:srgbClr val="D9D9D9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Maior dificuldade de usabilidade encontrada: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_____________________________________________________________________________________________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1201400" y="6446520"/>
            <a:ext cx="438912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F1E2D"/>
          </a:solidFill>
          <a:ln w="12700">
            <a:solidFill>
              <a:srgbClr val="EF1E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4F9AC1"/>
          </a:solidFill>
          <a:ln w="12700">
            <a:solidFill>
              <a:srgbClr val="4F9A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02336"/>
            <a:ext cx="896112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F1E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Teste com leitor de tela / navegação alternativa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832104"/>
            <a:ext cx="104241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777777"/>
                </a:solidFill>
              </a:rPr>
              <a:t>Use TalkBack ou VoiceOver quando houver celular disponível.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9829800" y="438912"/>
            <a:ext cx="18288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11111"/>
                </a:solidFill>
              </a:rPr>
              <a:t>Acessibilidade e usabilidade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85800" y="1389888"/>
            <a:ext cx="3520440" cy="1938528"/>
          </a:xfrm>
          <a:prstGeom prst="rect">
            <a:avLst/>
          </a:prstGeom>
          <a:solidFill>
            <a:srgbClr val="EAF5FA"/>
          </a:solidFill>
          <a:ln w="12700">
            <a:solidFill>
              <a:srgbClr val="4F9AC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Configuração usada</a:t>
            </a:r>
            <a:endParaRPr lang="en-US" sz="1220" dirty="0"/>
          </a:p>
          <a:p>
            <a:pPr algn="l" indent="0" marL="0">
              <a:buNone/>
            </a:pP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Sistema: Android / iOS / navegador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Ferramenta: TalkBack / VoiceOver / outra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Tamanho do texto: normal / aumentado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Modo contraste: sim / não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4434840" y="1389888"/>
            <a:ext cx="338328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o leitor de tela falou corretamente?
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0" y="1389888"/>
            <a:ext cx="320040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ficou confuso, invisível ou sem descrição?
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3977640"/>
            <a:ext cx="10561320" cy="1143000"/>
          </a:xfrm>
          <a:prstGeom prst="rect">
            <a:avLst/>
          </a:prstGeom>
          <a:solidFill>
            <a:srgbClr val="F7F7F7"/>
          </a:solidFill>
          <a:ln w="12700">
            <a:solidFill>
              <a:srgbClr val="D9D9D9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 de botão pequeno ou ação difícil</a:t>
            </a:r>
            <a:endParaRPr lang="en-US" sz="1280" dirty="0"/>
          </a:p>
          <a:p>
            <a:pPr algn="l" indent="0" marL="0">
              <a:buNone/>
            </a:pPr>
            <a:endParaRPr lang="en-US" sz="1280" dirty="0"/>
          </a:p>
          <a:p>
            <a:pPr algn="l" indent="0" marL="0">
              <a:buNone/>
            </a:pPr>
            <a:r>
              <a:rPr lang="en-US" sz="128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Botão/ação testada: _________________________________________</a:t>
            </a:r>
            <a:endParaRPr lang="en-US" sz="1280" dirty="0"/>
          </a:p>
          <a:p>
            <a:pPr algn="l" indent="0" marL="0">
              <a:buNone/>
            </a:pPr>
            <a:endParaRPr lang="en-US" sz="1280" dirty="0"/>
          </a:p>
          <a:p>
            <a:pPr algn="l" indent="0" marL="0">
              <a:buNone/>
            </a:pPr>
            <a:r>
              <a:rPr lang="en-US" sz="128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usuário conseguiu tocar sem erro? __________________________</a:t>
            </a:r>
            <a:endParaRPr lang="en-US" sz="1280" dirty="0"/>
          </a:p>
          <a:p>
            <a:pPr algn="l" indent="0" marL="0">
              <a:buNone/>
            </a:pPr>
            <a:endParaRPr lang="en-US" sz="1280" dirty="0"/>
          </a:p>
          <a:p>
            <a:pPr algn="l" indent="0" marL="0">
              <a:buNone/>
            </a:pPr>
            <a:r>
              <a:rPr lang="en-US" sz="128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 melhoria seria necessária? ______________________________</a:t>
            </a:r>
            <a:endParaRPr lang="en-US" sz="1280" dirty="0"/>
          </a:p>
        </p:txBody>
      </p:sp>
      <p:sp>
        <p:nvSpPr>
          <p:cNvPr id="11" name="Text 9"/>
          <p:cNvSpPr/>
          <p:nvPr/>
        </p:nvSpPr>
        <p:spPr>
          <a:xfrm>
            <a:off x="11201400" y="6446520"/>
            <a:ext cx="438912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F1E2D"/>
          </a:solidFill>
          <a:ln w="12700">
            <a:solidFill>
              <a:srgbClr val="EF1E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4F9AC1"/>
          </a:solidFill>
          <a:ln w="12700">
            <a:solidFill>
              <a:srgbClr val="4F9A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02336"/>
            <a:ext cx="896112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F1E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Problemas encontrados e prioridade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832104"/>
            <a:ext cx="104241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777777"/>
                </a:solidFill>
              </a:rPr>
              <a:t>Classifique por impacto: Crítico, Médio ou Baixo.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9829800" y="438912"/>
            <a:ext cx="18288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11111"/>
                </a:solidFill>
              </a:rPr>
              <a:t>Acessibilidade e usabilidade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3017520" cy="347472"/>
          </a:xfrm>
          <a:prstGeom prst="rect">
            <a:avLst/>
          </a:prstGeom>
          <a:solidFill>
            <a:srgbClr val="4F9AC1"/>
          </a:solidFill>
          <a:ln w="12700">
            <a:solidFill>
              <a:srgbClr val="4F9AC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03320" y="1234440"/>
            <a:ext cx="1325880" cy="347472"/>
          </a:xfrm>
          <a:prstGeom prst="rect">
            <a:avLst/>
          </a:prstGeom>
          <a:solidFill>
            <a:srgbClr val="4F9AC1"/>
          </a:solidFill>
          <a:ln w="12700">
            <a:solidFill>
              <a:srgbClr val="4F9AC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0" y="1234440"/>
            <a:ext cx="1417320" cy="347472"/>
          </a:xfrm>
          <a:prstGeom prst="rect">
            <a:avLst/>
          </a:prstGeom>
          <a:solidFill>
            <a:srgbClr val="4F9AC1"/>
          </a:solidFill>
          <a:ln w="12700">
            <a:solidFill>
              <a:srgbClr val="4F9AC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Prioridade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46520" y="1234440"/>
            <a:ext cx="1965960" cy="347472"/>
          </a:xfrm>
          <a:prstGeom prst="rect">
            <a:avLst/>
          </a:prstGeom>
          <a:solidFill>
            <a:srgbClr val="4F9AC1"/>
          </a:solidFill>
          <a:ln w="12700">
            <a:solidFill>
              <a:srgbClr val="4F9AC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é afetado?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412480" y="1234440"/>
            <a:ext cx="2788920" cy="347472"/>
          </a:xfrm>
          <a:prstGeom prst="rect">
            <a:avLst/>
          </a:prstGeom>
          <a:solidFill>
            <a:srgbClr val="4F9AC1"/>
          </a:solidFill>
          <a:ln w="12700">
            <a:solidFill>
              <a:srgbClr val="4F9AC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Evidência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85800" y="1581912"/>
            <a:ext cx="30175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3703320" y="1581912"/>
            <a:ext cx="13258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5029200" y="1581912"/>
            <a:ext cx="14173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6446520" y="1581912"/>
            <a:ext cx="1965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8412480" y="1581912"/>
            <a:ext cx="2788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685800" y="2148840"/>
            <a:ext cx="3017520" cy="566928"/>
          </a:xfrm>
          <a:prstGeom prst="rect">
            <a:avLst/>
          </a:prstGeom>
          <a:solidFill>
            <a:srgbClr val="FAFAFA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3703320" y="2148840"/>
            <a:ext cx="1325880" cy="566928"/>
          </a:xfrm>
          <a:prstGeom prst="rect">
            <a:avLst/>
          </a:prstGeom>
          <a:solidFill>
            <a:srgbClr val="FAFAFA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5029200" y="2148840"/>
            <a:ext cx="1417320" cy="566928"/>
          </a:xfrm>
          <a:prstGeom prst="rect">
            <a:avLst/>
          </a:prstGeom>
          <a:solidFill>
            <a:srgbClr val="FAFAFA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6446520" y="2148840"/>
            <a:ext cx="1965960" cy="566928"/>
          </a:xfrm>
          <a:prstGeom prst="rect">
            <a:avLst/>
          </a:prstGeom>
          <a:solidFill>
            <a:srgbClr val="FAFAFA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8412480" y="2148840"/>
            <a:ext cx="2788920" cy="566928"/>
          </a:xfrm>
          <a:prstGeom prst="rect">
            <a:avLst/>
          </a:prstGeom>
          <a:solidFill>
            <a:srgbClr val="FAFAFA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685800" y="2715768"/>
            <a:ext cx="30175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3703320" y="2715768"/>
            <a:ext cx="13258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5029200" y="2715768"/>
            <a:ext cx="14173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6446520" y="2715768"/>
            <a:ext cx="1965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8412480" y="2715768"/>
            <a:ext cx="2788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685800" y="3282696"/>
            <a:ext cx="3017520" cy="566928"/>
          </a:xfrm>
          <a:prstGeom prst="rect">
            <a:avLst/>
          </a:prstGeom>
          <a:solidFill>
            <a:srgbClr val="FAFAFA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endParaRPr lang="en-US" sz="920" dirty="0"/>
          </a:p>
        </p:txBody>
      </p:sp>
      <p:sp>
        <p:nvSpPr>
          <p:cNvPr id="28" name="Text 26"/>
          <p:cNvSpPr/>
          <p:nvPr/>
        </p:nvSpPr>
        <p:spPr>
          <a:xfrm>
            <a:off x="3703320" y="3282696"/>
            <a:ext cx="1325880" cy="566928"/>
          </a:xfrm>
          <a:prstGeom prst="rect">
            <a:avLst/>
          </a:prstGeom>
          <a:solidFill>
            <a:srgbClr val="FAFAFA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endParaRPr lang="en-US" sz="920" dirty="0"/>
          </a:p>
        </p:txBody>
      </p:sp>
      <p:sp>
        <p:nvSpPr>
          <p:cNvPr id="29" name="Text 27"/>
          <p:cNvSpPr/>
          <p:nvPr/>
        </p:nvSpPr>
        <p:spPr>
          <a:xfrm>
            <a:off x="5029200" y="3282696"/>
            <a:ext cx="1417320" cy="566928"/>
          </a:xfrm>
          <a:prstGeom prst="rect">
            <a:avLst/>
          </a:prstGeom>
          <a:solidFill>
            <a:srgbClr val="FAFAFA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endParaRPr lang="en-US" sz="920" dirty="0"/>
          </a:p>
        </p:txBody>
      </p:sp>
      <p:sp>
        <p:nvSpPr>
          <p:cNvPr id="30" name="Text 28"/>
          <p:cNvSpPr/>
          <p:nvPr/>
        </p:nvSpPr>
        <p:spPr>
          <a:xfrm>
            <a:off x="6446520" y="3282696"/>
            <a:ext cx="1965960" cy="566928"/>
          </a:xfrm>
          <a:prstGeom prst="rect">
            <a:avLst/>
          </a:prstGeom>
          <a:solidFill>
            <a:srgbClr val="FAFAFA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8412480" y="3282696"/>
            <a:ext cx="2788920" cy="566928"/>
          </a:xfrm>
          <a:prstGeom prst="rect">
            <a:avLst/>
          </a:prstGeom>
          <a:solidFill>
            <a:srgbClr val="FAFAFA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685800" y="3849624"/>
            <a:ext cx="30175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endParaRPr lang="en-US" sz="920" dirty="0"/>
          </a:p>
        </p:txBody>
      </p:sp>
      <p:sp>
        <p:nvSpPr>
          <p:cNvPr id="33" name="Text 31"/>
          <p:cNvSpPr/>
          <p:nvPr/>
        </p:nvSpPr>
        <p:spPr>
          <a:xfrm>
            <a:off x="3703320" y="3849624"/>
            <a:ext cx="13258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endParaRPr lang="en-US" sz="920" dirty="0"/>
          </a:p>
        </p:txBody>
      </p:sp>
      <p:sp>
        <p:nvSpPr>
          <p:cNvPr id="34" name="Text 32"/>
          <p:cNvSpPr/>
          <p:nvPr/>
        </p:nvSpPr>
        <p:spPr>
          <a:xfrm>
            <a:off x="5029200" y="3849624"/>
            <a:ext cx="14173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endParaRPr lang="en-US" sz="920" dirty="0"/>
          </a:p>
        </p:txBody>
      </p:sp>
      <p:sp>
        <p:nvSpPr>
          <p:cNvPr id="35" name="Text 33"/>
          <p:cNvSpPr/>
          <p:nvPr/>
        </p:nvSpPr>
        <p:spPr>
          <a:xfrm>
            <a:off x="6446520" y="3849624"/>
            <a:ext cx="1965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endParaRPr lang="en-US" sz="920" dirty="0"/>
          </a:p>
        </p:txBody>
      </p:sp>
      <p:sp>
        <p:nvSpPr>
          <p:cNvPr id="36" name="Text 34"/>
          <p:cNvSpPr/>
          <p:nvPr/>
        </p:nvSpPr>
        <p:spPr>
          <a:xfrm>
            <a:off x="8412480" y="3849624"/>
            <a:ext cx="2788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endParaRPr lang="en-US" sz="920" dirty="0"/>
          </a:p>
        </p:txBody>
      </p:sp>
      <p:sp>
        <p:nvSpPr>
          <p:cNvPr id="37" name="Text 35"/>
          <p:cNvSpPr/>
          <p:nvPr/>
        </p:nvSpPr>
        <p:spPr>
          <a:xfrm>
            <a:off x="685800" y="4416552"/>
            <a:ext cx="3017520" cy="566928"/>
          </a:xfrm>
          <a:prstGeom prst="rect">
            <a:avLst/>
          </a:prstGeom>
          <a:solidFill>
            <a:srgbClr val="FAFAFA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endParaRPr lang="en-US" sz="920" dirty="0"/>
          </a:p>
        </p:txBody>
      </p:sp>
      <p:sp>
        <p:nvSpPr>
          <p:cNvPr id="38" name="Text 36"/>
          <p:cNvSpPr/>
          <p:nvPr/>
        </p:nvSpPr>
        <p:spPr>
          <a:xfrm>
            <a:off x="3703320" y="4416552"/>
            <a:ext cx="1325880" cy="566928"/>
          </a:xfrm>
          <a:prstGeom prst="rect">
            <a:avLst/>
          </a:prstGeom>
          <a:solidFill>
            <a:srgbClr val="FAFAFA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endParaRPr lang="en-US" sz="920" dirty="0"/>
          </a:p>
        </p:txBody>
      </p:sp>
      <p:sp>
        <p:nvSpPr>
          <p:cNvPr id="39" name="Text 37"/>
          <p:cNvSpPr/>
          <p:nvPr/>
        </p:nvSpPr>
        <p:spPr>
          <a:xfrm>
            <a:off x="5029200" y="4416552"/>
            <a:ext cx="1417320" cy="566928"/>
          </a:xfrm>
          <a:prstGeom prst="rect">
            <a:avLst/>
          </a:prstGeom>
          <a:solidFill>
            <a:srgbClr val="FAFAFA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endParaRPr lang="en-US" sz="920" dirty="0"/>
          </a:p>
        </p:txBody>
      </p:sp>
      <p:sp>
        <p:nvSpPr>
          <p:cNvPr id="40" name="Text 38"/>
          <p:cNvSpPr/>
          <p:nvPr/>
        </p:nvSpPr>
        <p:spPr>
          <a:xfrm>
            <a:off x="6446520" y="4416552"/>
            <a:ext cx="1965960" cy="566928"/>
          </a:xfrm>
          <a:prstGeom prst="rect">
            <a:avLst/>
          </a:prstGeom>
          <a:solidFill>
            <a:srgbClr val="FAFAFA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endParaRPr lang="en-US" sz="920" dirty="0"/>
          </a:p>
        </p:txBody>
      </p:sp>
      <p:sp>
        <p:nvSpPr>
          <p:cNvPr id="41" name="Text 39"/>
          <p:cNvSpPr/>
          <p:nvPr/>
        </p:nvSpPr>
        <p:spPr>
          <a:xfrm>
            <a:off x="8412480" y="4416552"/>
            <a:ext cx="2788920" cy="566928"/>
          </a:xfrm>
          <a:prstGeom prst="rect">
            <a:avLst/>
          </a:prstGeom>
          <a:solidFill>
            <a:srgbClr val="FAFAFA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endParaRPr lang="en-US" sz="920" dirty="0"/>
          </a:p>
        </p:txBody>
      </p:sp>
      <p:sp>
        <p:nvSpPr>
          <p:cNvPr id="42" name="Text 40"/>
          <p:cNvSpPr/>
          <p:nvPr/>
        </p:nvSpPr>
        <p:spPr>
          <a:xfrm>
            <a:off x="685800" y="5394960"/>
            <a:ext cx="10515600" cy="457200"/>
          </a:xfrm>
          <a:prstGeom prst="rect">
            <a:avLst/>
          </a:prstGeom>
          <a:solidFill>
            <a:srgbClr val="EAF5FA"/>
          </a:solidFill>
          <a:ln w="12700">
            <a:solidFill>
              <a:srgbClr val="4F9AC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Tipo: acessibilidade ou usabilidade. Prioridade crítica: impede a tarefa principal ou exclui usuários.</a:t>
            </a:r>
            <a:endParaRPr lang="en-US" sz="1230" dirty="0"/>
          </a:p>
        </p:txBody>
      </p:sp>
      <p:sp>
        <p:nvSpPr>
          <p:cNvPr id="43" name="Text 41"/>
          <p:cNvSpPr/>
          <p:nvPr/>
        </p:nvSpPr>
        <p:spPr>
          <a:xfrm>
            <a:off x="11201400" y="6446520"/>
            <a:ext cx="438912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F1E2D"/>
          </a:solidFill>
          <a:ln w="12700">
            <a:solidFill>
              <a:srgbClr val="EF1E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4F9AC1"/>
          </a:solidFill>
          <a:ln w="12700">
            <a:solidFill>
              <a:srgbClr val="4F9A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02336"/>
            <a:ext cx="896112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F1E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Propostas de melhoria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832104"/>
            <a:ext cx="104241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777777"/>
                </a:solidFill>
              </a:rPr>
              <a:t>Transforme cada problema em uma solução prática de interface.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9829800" y="438912"/>
            <a:ext cx="18288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11111"/>
                </a:solidFill>
              </a:rPr>
              <a:t>Acessibilidade e usabilidade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3108960" cy="347472"/>
          </a:xfrm>
          <a:prstGeom prst="rect">
            <a:avLst/>
          </a:prstGeom>
          <a:solidFill>
            <a:srgbClr val="4F9AC1"/>
          </a:solidFill>
          <a:ln w="12700">
            <a:solidFill>
              <a:srgbClr val="4F9AC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 escolhido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94760" y="1234440"/>
            <a:ext cx="3977640" cy="347472"/>
          </a:xfrm>
          <a:prstGeom prst="rect">
            <a:avLst/>
          </a:prstGeom>
          <a:solidFill>
            <a:srgbClr val="4F9AC1"/>
          </a:solidFill>
          <a:ln w="12700">
            <a:solidFill>
              <a:srgbClr val="4F9AC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Solução recomendada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772400" y="1234440"/>
            <a:ext cx="3429000" cy="347472"/>
          </a:xfrm>
          <a:prstGeom prst="rect">
            <a:avLst/>
          </a:prstGeom>
          <a:solidFill>
            <a:srgbClr val="4F9AC1"/>
          </a:solidFill>
          <a:ln w="12700">
            <a:solidFill>
              <a:srgbClr val="4F9AC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esperado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5800" y="1581912"/>
            <a:ext cx="31089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3794760" y="1581912"/>
            <a:ext cx="39776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7772400" y="1581912"/>
            <a:ext cx="3429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685800" y="2267712"/>
            <a:ext cx="3108960" cy="685800"/>
          </a:xfrm>
          <a:prstGeom prst="rect">
            <a:avLst/>
          </a:prstGeom>
          <a:solidFill>
            <a:srgbClr val="FAFAFA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3794760" y="2267712"/>
            <a:ext cx="3977640" cy="685800"/>
          </a:xfrm>
          <a:prstGeom prst="rect">
            <a:avLst/>
          </a:prstGeom>
          <a:solidFill>
            <a:srgbClr val="FAFAFA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7772400" y="2267712"/>
            <a:ext cx="3429000" cy="685800"/>
          </a:xfrm>
          <a:prstGeom prst="rect">
            <a:avLst/>
          </a:prstGeom>
          <a:solidFill>
            <a:srgbClr val="FAFAFA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685800" y="2953512"/>
            <a:ext cx="31089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3794760" y="2953512"/>
            <a:ext cx="39776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7772400" y="2953512"/>
            <a:ext cx="3429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685800" y="3639312"/>
            <a:ext cx="3108960" cy="685800"/>
          </a:xfrm>
          <a:prstGeom prst="rect">
            <a:avLst/>
          </a:prstGeom>
          <a:solidFill>
            <a:srgbClr val="FAFAFA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3794760" y="3639312"/>
            <a:ext cx="3977640" cy="685800"/>
          </a:xfrm>
          <a:prstGeom prst="rect">
            <a:avLst/>
          </a:prstGeom>
          <a:solidFill>
            <a:srgbClr val="FAFAFA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7772400" y="3639312"/>
            <a:ext cx="3429000" cy="685800"/>
          </a:xfrm>
          <a:prstGeom prst="rect">
            <a:avLst/>
          </a:prstGeom>
          <a:solidFill>
            <a:srgbClr val="FAFAFA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685800" y="4572000"/>
            <a:ext cx="105156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Desenhe rapidamente a melhoria da tela ou descreva a alteração visual: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85800" y="4919472"/>
            <a:ext cx="105156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201400" y="6446520"/>
            <a:ext cx="438912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F1E2D"/>
          </a:solidFill>
          <a:ln w="12700">
            <a:solidFill>
              <a:srgbClr val="EF1E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4F9AC1"/>
          </a:solidFill>
          <a:ln w="12700">
            <a:solidFill>
              <a:srgbClr val="4F9A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02336"/>
            <a:ext cx="896112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F1E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Mini-relatório final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832104"/>
            <a:ext cx="104241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777777"/>
                </a:solidFill>
              </a:rPr>
              <a:t>Preencha com frases objetivas. Evite opinião solta; use evidências do teste.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9829800" y="438912"/>
            <a:ext cx="18288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11111"/>
                </a:solidFill>
              </a:rPr>
              <a:t>Acessibilidade e usabilidade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85800" y="1298448"/>
            <a:ext cx="2926080" cy="1143000"/>
          </a:xfrm>
          <a:prstGeom prst="rect">
            <a:avLst/>
          </a:prstGeom>
          <a:solidFill>
            <a:srgbClr val="F7F7F7"/>
          </a:solidFill>
          <a:ln w="12700">
            <a:solidFill>
              <a:srgbClr val="D9D9D9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testado: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do app: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86200" y="1298448"/>
            <a:ext cx="73152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Resumo do teste realizado:
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788920"/>
            <a:ext cx="507492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Principais problemas encontrados: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126480" y="2788920"/>
            <a:ext cx="507492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Melhorias recomendadas: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4526280"/>
            <a:ext cx="10515600" cy="960120"/>
          </a:xfrm>
          <a:prstGeom prst="rect">
            <a:avLst/>
          </a:prstGeom>
          <a:solidFill>
            <a:srgbClr val="EAF5FA"/>
          </a:solidFill>
          <a:ln w="12700">
            <a:solidFill>
              <a:srgbClr val="4F9AC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27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Conclusão do grupo: o app é acessível e usável para todos? Justifique.</a:t>
            </a:r>
            <a:endParaRPr lang="en-US" sz="1270" dirty="0"/>
          </a:p>
          <a:p>
            <a:pPr algn="l" indent="0" marL="0">
              <a:buNone/>
            </a:pPr>
            <a:endParaRPr lang="en-US" sz="1270" dirty="0"/>
          </a:p>
          <a:p>
            <a:pPr algn="l" indent="0" marL="0">
              <a:buNone/>
            </a:pPr>
            <a:r>
              <a:rPr lang="en-US" sz="127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________________________________________________________________________________________________________</a:t>
            </a:r>
            <a:endParaRPr lang="en-US" sz="1270" dirty="0"/>
          </a:p>
          <a:p>
            <a:pPr algn="l" indent="0" marL="0">
              <a:buNone/>
            </a:pPr>
            <a:r>
              <a:rPr lang="en-US" sz="127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________________________________________________________________________________________________________</a:t>
            </a:r>
            <a:endParaRPr lang="en-US" sz="1270" dirty="0"/>
          </a:p>
        </p:txBody>
      </p:sp>
      <p:sp>
        <p:nvSpPr>
          <p:cNvPr id="12" name="Text 10"/>
          <p:cNvSpPr/>
          <p:nvPr/>
        </p:nvSpPr>
        <p:spPr>
          <a:xfrm>
            <a:off x="11201400" y="6446520"/>
            <a:ext cx="438912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F1E2D"/>
          </a:solidFill>
          <a:ln w="12700">
            <a:solidFill>
              <a:srgbClr val="EF1E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4F9AC1"/>
          </a:solidFill>
          <a:ln w="12700">
            <a:solidFill>
              <a:srgbClr val="4F9A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02336"/>
            <a:ext cx="896112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F1E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 Roteiro da apresentação do grupo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832104"/>
            <a:ext cx="104241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777777"/>
                </a:solidFill>
              </a:rPr>
              <a:t>Tempo máximo: 3 minutos por grupo.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9829800" y="438912"/>
            <a:ext cx="18288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11111"/>
                </a:solidFill>
              </a:rPr>
              <a:t>Acessibilidade e usabilidade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85800" y="1298448"/>
            <a:ext cx="32004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Apresentar o app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Nome, objetivo e tarefa principal testada.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434840" y="1298448"/>
            <a:ext cx="32004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Mostrar o método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testou, quais tarefas e quais ferramentas foram usadas.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01000" y="1298448"/>
            <a:ext cx="32004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Apontar os problemas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Citar evidências, não apenas opinião.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514600"/>
            <a:ext cx="32004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Defender melhorias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Explicar a correção e o impacto esperado.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434840" y="2514600"/>
            <a:ext cx="32004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Conclusão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Responder se o app atende bem usuários diferentes.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001000" y="2514600"/>
            <a:ext cx="32004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Pergunta para turma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grupo faz uma pergunta sobre o app testado.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3977640"/>
            <a:ext cx="10515600" cy="1325880"/>
          </a:xfrm>
          <a:prstGeom prst="rect">
            <a:avLst/>
          </a:prstGeom>
          <a:solidFill>
            <a:srgbClr val="F7F7F7"/>
          </a:solidFill>
          <a:ln w="12700">
            <a:solidFill>
              <a:srgbClr val="D9D9D9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27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Fala do apresentador: escreva aqui a ordem das falas do grupo.</a:t>
            </a:r>
            <a:endParaRPr lang="en-US" sz="1270" dirty="0"/>
          </a:p>
          <a:p>
            <a:pPr algn="l" indent="0" marL="0">
              <a:buNone/>
            </a:pPr>
            <a:endParaRPr lang="en-US" sz="1270" dirty="0"/>
          </a:p>
          <a:p>
            <a:pPr algn="l" indent="0" marL="0">
              <a:buNone/>
            </a:pPr>
            <a:r>
              <a:rPr lang="en-US" sz="127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________________________________________________________________________________________________________</a:t>
            </a:r>
            <a:endParaRPr lang="en-US" sz="1270" dirty="0"/>
          </a:p>
          <a:p>
            <a:pPr algn="l" indent="0" marL="0">
              <a:buNone/>
            </a:pPr>
            <a:r>
              <a:rPr lang="en-US" sz="127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________________________________________________________________________________________________________</a:t>
            </a:r>
            <a:endParaRPr lang="en-US" sz="1270" dirty="0"/>
          </a:p>
          <a:p>
            <a:pPr algn="l" indent="0" marL="0">
              <a:buNone/>
            </a:pPr>
            <a:r>
              <a:rPr lang="en-US" sz="127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________________________________________________________________________________________________________</a:t>
            </a:r>
            <a:endParaRPr lang="en-US" sz="1270" dirty="0"/>
          </a:p>
        </p:txBody>
      </p:sp>
      <p:sp>
        <p:nvSpPr>
          <p:cNvPr id="14" name="Text 12"/>
          <p:cNvSpPr/>
          <p:nvPr/>
        </p:nvSpPr>
        <p:spPr>
          <a:xfrm>
            <a:off x="11201400" y="6446520"/>
            <a:ext cx="438912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F1E2D"/>
          </a:solidFill>
          <a:ln w="12700">
            <a:solidFill>
              <a:srgbClr val="EF1E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4F9AC1"/>
          </a:solidFill>
          <a:ln w="12700">
            <a:solidFill>
              <a:srgbClr val="4F9A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02336"/>
            <a:ext cx="896112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F1E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 Autoavaliação e critérios de correção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832104"/>
            <a:ext cx="104241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777777"/>
                </a:solidFill>
              </a:rPr>
              <a:t>Marque o que foi entregue antes de apresentar.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9829800" y="438912"/>
            <a:ext cx="18288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11111"/>
                </a:solidFill>
              </a:rPr>
              <a:t>Acessibilidade e usabilidade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4846320" cy="347472"/>
          </a:xfrm>
          <a:prstGeom prst="rect">
            <a:avLst/>
          </a:prstGeom>
          <a:solidFill>
            <a:srgbClr val="4F9AC1"/>
          </a:solidFill>
          <a:ln w="12700">
            <a:solidFill>
              <a:srgbClr val="4F9AC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 avaliado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532120" y="1234440"/>
            <a:ext cx="1280160" cy="347472"/>
          </a:xfrm>
          <a:prstGeom prst="rect">
            <a:avLst/>
          </a:prstGeom>
          <a:solidFill>
            <a:srgbClr val="4F9AC1"/>
          </a:solidFill>
          <a:ln w="12700">
            <a:solidFill>
              <a:srgbClr val="4F9AC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Entregue?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812280" y="1234440"/>
            <a:ext cx="4389120" cy="347472"/>
          </a:xfrm>
          <a:prstGeom prst="rect">
            <a:avLst/>
          </a:prstGeom>
          <a:solidFill>
            <a:srgbClr val="4F9AC1"/>
          </a:solidFill>
          <a:ln w="12700">
            <a:solidFill>
              <a:srgbClr val="4F9AC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Observação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5800" y="1581912"/>
            <a:ext cx="4846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grupo testou pelo menos 1 app da lista.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5532120" y="1581912"/>
            <a:ext cx="12801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12280" y="1581912"/>
            <a:ext cx="43891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2112264"/>
            <a:ext cx="4846320" cy="530352"/>
          </a:xfrm>
          <a:prstGeom prst="rect">
            <a:avLst/>
          </a:prstGeom>
          <a:solidFill>
            <a:srgbClr val="FAFAFA"/>
          </a:solidFill>
          <a:ln w="12700">
            <a:solidFill>
              <a:srgbClr val="D9D9D9"/>
            </a:solidFill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grupo definiu tarefas e mediu dificuldade/tempo.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5532120" y="2112264"/>
            <a:ext cx="1280160" cy="530352"/>
          </a:xfrm>
          <a:prstGeom prst="rect">
            <a:avLst/>
          </a:prstGeom>
          <a:solidFill>
            <a:srgbClr val="FAFAFA"/>
          </a:solidFill>
          <a:ln w="12700">
            <a:solidFill>
              <a:srgbClr val="D9D9D9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12280" y="2112264"/>
            <a:ext cx="4389120" cy="530352"/>
          </a:xfrm>
          <a:prstGeom prst="rect">
            <a:avLst/>
          </a:prstGeom>
          <a:solidFill>
            <a:srgbClr val="FAFAFA"/>
          </a:solidFill>
          <a:ln w="12700">
            <a:solidFill>
              <a:srgbClr val="D9D9D9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2642616"/>
            <a:ext cx="4846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grupo verificou acessibilidade com checklist.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5532120" y="2642616"/>
            <a:ext cx="12801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12280" y="2642616"/>
            <a:ext cx="43891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" y="3172968"/>
            <a:ext cx="4846320" cy="530352"/>
          </a:xfrm>
          <a:prstGeom prst="rect">
            <a:avLst/>
          </a:prstGeom>
          <a:solidFill>
            <a:srgbClr val="FAFAFA"/>
          </a:solidFill>
          <a:ln w="12700">
            <a:solidFill>
              <a:srgbClr val="D9D9D9"/>
            </a:solidFill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grupo verificou usabilidade com evidências.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5532120" y="3172968"/>
            <a:ext cx="1280160" cy="530352"/>
          </a:xfrm>
          <a:prstGeom prst="rect">
            <a:avLst/>
          </a:prstGeom>
          <a:solidFill>
            <a:srgbClr val="FAFAFA"/>
          </a:solidFill>
          <a:ln w="12700">
            <a:solidFill>
              <a:srgbClr val="D9D9D9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12280" y="3172968"/>
            <a:ext cx="4389120" cy="530352"/>
          </a:xfrm>
          <a:prstGeom prst="rect">
            <a:avLst/>
          </a:prstGeom>
          <a:solidFill>
            <a:srgbClr val="FAFAFA"/>
          </a:solidFill>
          <a:ln w="12700">
            <a:solidFill>
              <a:srgbClr val="D9D9D9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5800" y="3703320"/>
            <a:ext cx="4846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grupo priorizou problemas por gravidade.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5532120" y="3703320"/>
            <a:ext cx="12801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12280" y="3703320"/>
            <a:ext cx="43891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5800" y="4233672"/>
            <a:ext cx="4846320" cy="530352"/>
          </a:xfrm>
          <a:prstGeom prst="rect">
            <a:avLst/>
          </a:prstGeom>
          <a:solidFill>
            <a:srgbClr val="FAFAFA"/>
          </a:solidFill>
          <a:ln w="12700">
            <a:solidFill>
              <a:srgbClr val="D9D9D9"/>
            </a:solidFill>
          </a:ln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grupo propôs melhorias viáveis.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5532120" y="4233672"/>
            <a:ext cx="1280160" cy="530352"/>
          </a:xfrm>
          <a:prstGeom prst="rect">
            <a:avLst/>
          </a:prstGeom>
          <a:solidFill>
            <a:srgbClr val="FAFAFA"/>
          </a:solidFill>
          <a:ln w="12700">
            <a:solidFill>
              <a:srgbClr val="D9D9D9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12280" y="4233672"/>
            <a:ext cx="4389120" cy="530352"/>
          </a:xfrm>
          <a:prstGeom prst="rect">
            <a:avLst/>
          </a:prstGeom>
          <a:solidFill>
            <a:srgbClr val="FAFAFA"/>
          </a:solidFill>
          <a:ln w="12700">
            <a:solidFill>
              <a:srgbClr val="D9D9D9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85800" y="5166360"/>
            <a:ext cx="10515600" cy="658368"/>
          </a:xfrm>
          <a:prstGeom prst="rect">
            <a:avLst/>
          </a:prstGeom>
          <a:solidFill>
            <a:srgbClr val="EAF5FA"/>
          </a:solidFill>
          <a:ln w="12700">
            <a:solidFill>
              <a:srgbClr val="4F9AC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rPr lang="en-US" sz="127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 do grupo / feedback do professor:</a:t>
            </a:r>
            <a:endParaRPr lang="en-US" sz="1270" dirty="0"/>
          </a:p>
          <a:p>
            <a:pPr algn="l" indent="0" marL="0">
              <a:buNone/>
            </a:pPr>
            <a:endParaRPr lang="en-US" sz="1270" dirty="0"/>
          </a:p>
          <a:p>
            <a:pPr algn="l" indent="0" marL="0">
              <a:buNone/>
            </a:pPr>
            <a:r>
              <a:rPr lang="en-US" sz="127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________________________________________________________________________________________________________</a:t>
            </a:r>
            <a:endParaRPr lang="en-US" sz="1270" dirty="0"/>
          </a:p>
        </p:txBody>
      </p:sp>
      <p:sp>
        <p:nvSpPr>
          <p:cNvPr id="29" name="Text 27"/>
          <p:cNvSpPr/>
          <p:nvPr/>
        </p:nvSpPr>
        <p:spPr>
          <a:xfrm>
            <a:off x="11201400" y="6446520"/>
            <a:ext cx="438912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Escola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Atividade prática - Acessibilidade e Usabilidade</dc:title>
  <dc:subject>Atividade prática de acessibilidade e usabilidade</dc:subject>
  <dc:creator>OpenAI</dc:creator>
  <cp:lastModifiedBy>OpenAI</cp:lastModifiedBy>
  <cp:revision>1</cp:revision>
  <dcterms:created xsi:type="dcterms:W3CDTF">2026-08-14T11:45:29Z</dcterms:created>
  <dcterms:modified xsi:type="dcterms:W3CDTF">2026-08-14T11:45:29Z</dcterms:modified>
</cp:coreProperties>
</file>