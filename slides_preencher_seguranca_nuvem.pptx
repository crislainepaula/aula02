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0"/>
            <a:ext cx="256032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0" y="1005840"/>
            <a:ext cx="7955279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C62828"/>
                </a:solidFill>
              </a:rPr>
              <a:t>ATIVIDADE PARA PREENCHER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45920"/>
            <a:ext cx="7955279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12121"/>
                </a:solidFill>
              </a:rPr>
              <a:t>Segurança na nuvem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331720"/>
            <a:ext cx="7955279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265DAB"/>
                </a:solidFill>
              </a:rPr>
              <a:t>Shared Responsibility, IAM, papéis, políticas e MFA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108960"/>
            <a:ext cx="73152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6E6E6E"/>
                </a:solidFill>
              </a:rPr>
              <a:t>Slides com perguntas, quadros e espaços vazios para preencher durante as duas aulas.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214884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219456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Técnico em
Desenvolvimento
de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14800"/>
            <a:ext cx="21488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Uso sugerido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526280"/>
            <a:ext cx="22402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Projetar o slide
e preencher com a turma.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Como fazer a atividade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Preenchimento em grupo ou com mediação do professor.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1097280"/>
          </a:xfrm>
          <a:prstGeom prst="roundRect">
            <a:avLst/>
          </a:prstGeom>
          <a:solidFill>
            <a:srgbClr val="EDF3FA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27632"/>
            <a:ext cx="314553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12121"/>
                </a:solidFill>
              </a:rPr>
              <a:t>1. Leiam o caso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1097280"/>
          </a:xfrm>
          <a:prstGeom prst="roundRect">
            <a:avLst/>
          </a:prstGeom>
          <a:solidFill>
            <a:srgbClr val="FCF0F0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27632"/>
            <a:ext cx="314553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12121"/>
                </a:solidFill>
              </a:rPr>
              <a:t>2. Discutam em grupo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1097280"/>
          </a:xfrm>
          <a:prstGeom prst="roundRect">
            <a:avLst/>
          </a:prstGeom>
          <a:solidFill>
            <a:srgbClr val="EDF3FA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27632"/>
            <a:ext cx="314553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212121"/>
                </a:solidFill>
              </a:rPr>
              <a:t>3. Preencham as respostas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078992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12121"/>
                </a:solidFill>
              </a:defRPr>
            </a:pPr>
            <a:r>
              <a:t>• O professor pode preencher os próprios slides ao vivo ou pedir que os alunos copiem no caderno.</a:t>
            </a:r>
          </a:p>
          <a:p>
            <a:pPr>
              <a:spcAft>
                <a:spcPts val="700"/>
              </a:spcAft>
              <a:defRPr sz="2000">
                <a:solidFill>
                  <a:srgbClr val="212121"/>
                </a:solidFill>
              </a:defRPr>
            </a:pPr>
            <a:r>
              <a:t>• As respostas não estão prontas: os quadros abaixo foram deixados em branco de propósito.</a:t>
            </a:r>
          </a:p>
          <a:p>
            <a:pPr>
              <a:spcAft>
                <a:spcPts val="700"/>
              </a:spcAft>
              <a:defRPr sz="2000">
                <a:solidFill>
                  <a:srgbClr val="212121"/>
                </a:solidFill>
              </a:defRPr>
            </a:pPr>
            <a:r>
              <a:t>• O foco é identificar responsabilidades, corrigir permissões e propor ações de segurança.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Situação-problema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Leitura inicial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300">
                <a:solidFill>
                  <a:srgbClr val="212121"/>
                </a:solidFill>
              </a:defRPr>
            </a:pPr>
            <a:r>
              <a:t>A empresa NovaTech Sistemas hospeda sua aplicação na nuvem e armazena dados de clientes.</a:t>
            </a:r>
          </a:p>
          <a:p>
            <a:pPr>
              <a:spcAft>
                <a:spcPts val="700"/>
              </a:spcAft>
              <a:defRPr sz="2300">
                <a:solidFill>
                  <a:srgbClr val="212121"/>
                </a:solidFill>
              </a:defRPr>
            </a:pPr>
            <a:r>
              <a:t>Após alguns meses, a equipe de segurança descobre que houve exposição de informações sensíveis.</a:t>
            </a:r>
          </a:p>
          <a:p>
            <a:pPr>
              <a:spcAft>
                <a:spcPts val="700"/>
              </a:spcAft>
              <a:defRPr sz="2300">
                <a:solidFill>
                  <a:srgbClr val="212121"/>
                </a:solidFill>
              </a:defRPr>
            </a:pPr>
            <a:r>
              <a:t>Sua turma foi chamada para analisar o caso, apontar os responsáveis e propor correções.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>
                <a:solidFill>
                  <a:srgbClr val="C62828"/>
                </a:solidFill>
              </a:rPr>
              <a:t>Pergunta central: a falha foi do provedor ou do cliente?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Evidências encontradas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Leiam e usem no preenchimento dos próximos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78992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12121"/>
                </a:solidFill>
              </a:defRPr>
            </a:pPr>
            <a:r>
              <a:t>1. Um armazenamento com dados de clientes foi configurado como público.</a:t>
            </a:r>
          </a:p>
          <a:p>
            <a:pPr>
              <a:spcAft>
                <a:spcPts val="700"/>
              </a:spcAft>
              <a:defRPr sz="1800">
                <a:solidFill>
                  <a:srgbClr val="212121"/>
                </a:solidFill>
              </a:defRPr>
            </a:pPr>
            <a:r>
              <a:t>2. Uma chave de API de produção foi publicada em um repositório aberto.</a:t>
            </a:r>
          </a:p>
          <a:p>
            <a:pPr>
              <a:spcAft>
                <a:spcPts val="700"/>
              </a:spcAft>
              <a:defRPr sz="1800">
                <a:solidFill>
                  <a:srgbClr val="212121"/>
                </a:solidFill>
              </a:defRPr>
            </a:pPr>
            <a:r>
              <a:t>3. A chave de API não era trocada havia mais de um ano.</a:t>
            </a:r>
          </a:p>
          <a:p>
            <a:pPr>
              <a:spcAft>
                <a:spcPts val="700"/>
              </a:spcAft>
              <a:defRPr sz="1800">
                <a:solidFill>
                  <a:srgbClr val="212121"/>
                </a:solidFill>
              </a:defRPr>
            </a:pPr>
            <a:r>
              <a:t>4. Um desenvolvedor possuía permissão de Administrador Total.</a:t>
            </a:r>
          </a:p>
          <a:p>
            <a:pPr>
              <a:spcAft>
                <a:spcPts val="700"/>
              </a:spcAft>
              <a:defRPr sz="1800">
                <a:solidFill>
                  <a:srgbClr val="212121"/>
                </a:solidFill>
              </a:defRPr>
            </a:pPr>
            <a:r>
              <a:t>5. Dois administradores acessavam o ambiente sem MFA.</a:t>
            </a:r>
          </a:p>
          <a:p>
            <a:pPr>
              <a:spcAft>
                <a:spcPts val="700"/>
              </a:spcAft>
              <a:defRPr sz="1800">
                <a:solidFill>
                  <a:srgbClr val="212121"/>
                </a:solidFill>
              </a:defRPr>
            </a:pPr>
            <a:r>
              <a:t>6. O banco de dados aceitava conexões de qualquer endereço da internet.</a:t>
            </a:r>
          </a:p>
          <a:p>
            <a:pPr>
              <a:spcAft>
                <a:spcPts val="700"/>
              </a:spcAft>
              <a:defRPr sz="1800">
                <a:solidFill>
                  <a:srgbClr val="212121"/>
                </a:solidFill>
              </a:defRPr>
            </a:pPr>
            <a:r>
              <a:t>7. Não havia monitoramento periódico dos acessos aos dados.</a:t>
            </a:r>
          </a:p>
          <a:p>
            <a:pPr>
              <a:spcAft>
                <a:spcPts val="700"/>
              </a:spcAft>
              <a:defRPr sz="1800">
                <a:solidFill>
                  <a:srgbClr val="212121"/>
                </a:solidFill>
              </a:defRPr>
            </a:pPr>
            <a:r>
              <a:t>8. O provedor não registrou falha na infraestrutura física ou virtual.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Preencha 1 — Classificação das falhas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Completem com Cliente/Provedor e a justificativa.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828800"/>
                <a:gridCol w="1828800"/>
                <a:gridCol w="521208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Situação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Falha?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Justificativa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1. Bucket público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2. Chave exposta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3. Sem rotação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4. Sem MFA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5. BD aberto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Preencha 2 — Continuação da classificação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Completem o restante e respondam as perguntas.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5214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828800"/>
                <a:gridCol w="1828800"/>
                <a:gridCol w="521208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Situação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Falha?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Justificativa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6. Permissão excessiva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7. Sem monitoramento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8. Infraestrutura sem falha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65760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>Quem é responsável pela infraestrutura física?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>Existe evidência de falha do provedor?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Preencha 3 — Menor privilégio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Complete a tabela com N, L, E ou 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C62828"/>
                </a:solidFill>
              </a:rPr>
              <a:t>Legenda: N = nenhum acesso | L = leitura | E = leitura e escrita | A = administração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0607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2011680"/>
                <a:gridCol w="201168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Recurso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Desenvolvedor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Suporte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Administrador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Auditor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Código-fonte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Banco de dados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Logs de segurança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Criar usuários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Alterar permissões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Preencha 4 — Perguntas sobre IAM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Respostas curtas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>Por que não é correto dar Administrador Total para todos?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>Qual princípio é violado quando alguém recebe acesso além do necessário?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11880"/>
            <a:ext cx="11109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>O que é MFA e por que ele é importante em contas administrativas?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Preencha 5 — MFA e credenciais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Decidam e justifiquem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82880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Conta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MFA?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Justificativa</a:t>
                      </a:r>
                    </a:p>
                  </a:txBody>
                  <a:tcPr>
                    <a:solidFill>
                      <a:srgbClr val="265DA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Administrador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Desenvolvedor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Suporte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Usuário comum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C62828"/>
                </a:solidFill>
              </a:rPr>
              <a:t>Credenciais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>Onde armazenar chaves de API?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3756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>O que fazer se uma chave for exposta?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Preencha 6 — Plano de resposta ao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Registrem as 3 primeiras ações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62828"/>
                </a:solidFill>
              </a:rPr>
              <a:t>1ª ação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60020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62828"/>
                </a:solidFill>
              </a:rPr>
              <a:t>2ª ação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60020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62828"/>
                </a:solidFill>
              </a:rPr>
              <a:t>3ª ação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265DAB"/>
                </a:solidFill>
              </a:rPr>
              <a:t>Depois respondam: a responsabilidade principal foi do provedor ou da empresa? Justifiquem com 3 evidências.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Fechamento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Cada aluno responde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486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212121"/>
                </a:solidFill>
              </a:rPr>
              <a:t>1. O que é responsabilidade compartilhada na nuvem?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868680"/>
            <a:ext cx="5486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/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5486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212121"/>
                </a:solidFill>
              </a:rPr>
              <a:t>2. O que significa Princípio do Menor Privilégio?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103120"/>
            <a:ext cx="5486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/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5486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212121"/>
                </a:solidFill>
              </a:rPr>
              <a:t>3. Para que serve o MFA?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3337560"/>
            <a:ext cx="5486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/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54880"/>
            <a:ext cx="5486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212121"/>
                </a:solidFill>
              </a:rPr>
              <a:t>4. Cite uma medida para proteger chaves de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572000"/>
            <a:ext cx="5486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6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265DAB"/>
                </a:solidFill>
              </a:rPr>
              <a:t/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________________________________________________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Atividade em slides para preencher • Segurança na nuvem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