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</p:sldIdLst>
  <p:notesMasterIdLst>
    <p:notesMasterId r:id="rId15"/>
  </p:notesMasterIdLst>
  <p:sldSz cx="12191695" cy="6858000"/>
  <p:notesSz cx="6858000" cy="12191695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notesMaster" Target="notesMasters/notesMaster1.xml"/><Relationship Id="rId16" Type="http://schemas.openxmlformats.org/officeDocument/2006/relationships/presProps" Target="presProps.xml"/><Relationship Id="rId17" Type="http://schemas.openxmlformats.org/officeDocument/2006/relationships/viewProps" Target="viewProps.xml"/><Relationship Id="rId18" Type="http://schemas.openxmlformats.org/officeDocument/2006/relationships/theme" Target="theme/theme1.xml"/><Relationship Id="rId19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MASTER">
    <p:bg>
      <p:bgPr>
        <a:solidFill>
          <a:srgbClr val="F7F9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B172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94360" y="438912"/>
            <a:ext cx="43891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</a:rPr>
              <a:t>APRENDER EM AÇÃO</a:t>
            </a:r>
            <a:endParaRPr lang="en-US" sz="1800" dirty="0"/>
          </a:p>
        </p:txBody>
      </p:sp>
      <p:sp>
        <p:nvSpPr>
          <p:cNvPr id="3" name="Text 1"/>
          <p:cNvSpPr/>
          <p:nvPr/>
        </p:nvSpPr>
        <p:spPr>
          <a:xfrm>
            <a:off x="594360" y="1234440"/>
            <a:ext cx="923544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Gestão de riscos de segurança da informação</a:t>
            </a:r>
            <a:endParaRPr lang="en-US" sz="3400" dirty="0"/>
          </a:p>
        </p:txBody>
      </p:sp>
      <p:sp>
        <p:nvSpPr>
          <p:cNvPr id="4" name="Text 2"/>
          <p:cNvSpPr/>
          <p:nvPr/>
        </p:nvSpPr>
        <p:spPr>
          <a:xfrm>
            <a:off x="594360" y="2121408"/>
            <a:ext cx="65836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D9E2EC"/>
                </a:solidFill>
              </a:rPr>
              <a:t>Atividade integrada para preencher no PowerPoint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731520" y="3977640"/>
            <a:ext cx="3246120" cy="1051560"/>
          </a:xfrm>
          <a:prstGeom prst="rect">
            <a:avLst/>
          </a:prstGeom>
          <a:solidFill>
            <a:srgbClr val="2F80ED"/>
          </a:solidFill>
          <a:ln>
            <a:solidFill>
              <a:srgbClr val="2F80ED"/>
            </a:solidFill>
          </a:ln>
        </p:spPr>
        <p:txBody>
          <a:bodyPr wrap="square" lIns="1905" tIns="1905" rIns="1905" bIns="1905" rtlCol="0" anchor="ctr">
            <a:normAutofit/>
          </a:bodyPr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</a:rPr>
              <a:t>Aula 1</a:t>
            </a:r>
            <a:endParaRPr lang="en-US" sz="1500" dirty="0"/>
          </a:p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</a:rPr>
              <a:t>Ativos, ameaças, vulnerabilidades e impactos</a:t>
            </a:r>
            <a:endParaRPr lang="en-US" sz="1500" dirty="0"/>
          </a:p>
        </p:txBody>
      </p:sp>
      <p:sp>
        <p:nvSpPr>
          <p:cNvPr id="6" name="Text 4"/>
          <p:cNvSpPr/>
          <p:nvPr/>
        </p:nvSpPr>
        <p:spPr>
          <a:xfrm>
            <a:off x="4526280" y="3977640"/>
            <a:ext cx="3246120" cy="1051560"/>
          </a:xfrm>
          <a:prstGeom prst="rect">
            <a:avLst/>
          </a:prstGeom>
          <a:solidFill>
            <a:srgbClr val="00A6A6"/>
          </a:solidFill>
          <a:ln>
            <a:solidFill>
              <a:srgbClr val="00A6A6"/>
            </a:solidFill>
          </a:ln>
        </p:spPr>
        <p:txBody>
          <a:bodyPr wrap="square" lIns="1905" tIns="1905" rIns="1905" bIns="1905" rtlCol="0" anchor="ctr">
            <a:normAutofit/>
          </a:bodyPr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</a:rPr>
              <a:t>Aula 2</a:t>
            </a:r>
            <a:endParaRPr lang="en-US" sz="1500" dirty="0"/>
          </a:p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</a:rPr>
              <a:t>Probabilidade x impacto e priorização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8321040" y="3977640"/>
            <a:ext cx="3246120" cy="1051560"/>
          </a:xfrm>
          <a:prstGeom prst="rect">
            <a:avLst/>
          </a:prstGeom>
          <a:solidFill>
            <a:srgbClr val="E63946"/>
          </a:solidFill>
          <a:ln>
            <a:solidFill>
              <a:srgbClr val="E63946"/>
            </a:solidFill>
          </a:ln>
        </p:spPr>
        <p:txBody>
          <a:bodyPr wrap="square" lIns="1905" tIns="1905" rIns="1905" bIns="1905" rtlCol="0" anchor="ctr">
            <a:normAutofit/>
          </a:bodyPr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</a:rPr>
              <a:t>Aula 3</a:t>
            </a:r>
            <a:endParaRPr lang="en-US" sz="1500" dirty="0"/>
          </a:p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</a:rPr>
              <a:t>Tratamento de riscos e mitigação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594360" y="5815584"/>
            <a:ext cx="4206240" cy="457200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>
                <a:alpha val="95000"/>
              </a:srgbClr>
            </a:solidFill>
            <a:headEnd type="none"/>
            <a:tailEnd type="none"/>
          </a:ln>
        </p:spPr>
        <p:txBody>
          <a:bodyPr wrap="square" lIns="1524" tIns="1524" rIns="1524" bIns="1524" rtlCol="0" anchor="t">
            <a:normAutofit/>
          </a:bodyPr>
          <a:lstStyle/>
          <a:p>
            <a:pPr indent="0" marL="0">
              <a:buNone/>
            </a:pPr>
            <a:r>
              <a:rPr lang="en-US" sz="1100" i="1" dirty="0">
                <a:solidFill>
                  <a:srgbClr val="7B8794"/>
                </a:solidFill>
              </a:rPr>
              <a:t>Nome / Turma / Data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594360" y="6382512"/>
            <a:ext cx="11064240" cy="0"/>
          </a:xfrm>
          <a:prstGeom prst="line">
            <a:avLst/>
          </a:prstGeom>
          <a:noFill/>
          <a:ln w="12700">
            <a:solidFill>
              <a:srgbClr val="56657A"/>
            </a:solidFill>
            <a:prstDash val="solid"/>
          </a:ln>
        </p:spPr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7F9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20040"/>
            <a:ext cx="77724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02A4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Como preencher a atividade</a:t>
            </a:r>
            <a:endParaRPr lang="en-US" sz="2400" dirty="0"/>
          </a:p>
        </p:txBody>
      </p:sp>
      <p:sp>
        <p:nvSpPr>
          <p:cNvPr id="3" name="Text 1"/>
          <p:cNvSpPr/>
          <p:nvPr/>
        </p:nvSpPr>
        <p:spPr>
          <a:xfrm>
            <a:off x="502920" y="768096"/>
            <a:ext cx="80467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58616D"/>
                </a:solidFill>
              </a:rPr>
              <a:t>Use as aulas para completar os campos. Não apague os títulos dos quadros.</a:t>
            </a:r>
            <a:endParaRPr lang="en-US" sz="1050" dirty="0"/>
          </a:p>
        </p:txBody>
      </p:sp>
      <p:sp>
        <p:nvSpPr>
          <p:cNvPr id="4" name="Text 2"/>
          <p:cNvSpPr/>
          <p:nvPr/>
        </p:nvSpPr>
        <p:spPr>
          <a:xfrm>
            <a:off x="9372600" y="320040"/>
            <a:ext cx="2304288" cy="347472"/>
          </a:xfrm>
          <a:prstGeom prst="rect">
            <a:avLst/>
          </a:prstGeom>
          <a:solidFill>
            <a:srgbClr val="102A43"/>
          </a:solidFill>
          <a:ln>
            <a:solidFill>
              <a:srgbClr val="102A43"/>
            </a:solidFill>
          </a:ln>
        </p:spPr>
        <p:txBody>
          <a:bodyPr wrap="square" lIns="508" tIns="508" rIns="508" bIns="508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FFFFFF"/>
                </a:solidFill>
              </a:rPr>
              <a:t>ORIENTAÇÕES</a:t>
            </a:r>
            <a:endParaRPr lang="en-US" sz="1150" dirty="0"/>
          </a:p>
        </p:txBody>
      </p:sp>
      <p:sp>
        <p:nvSpPr>
          <p:cNvPr id="5" name="Shape 3"/>
          <p:cNvSpPr/>
          <p:nvPr/>
        </p:nvSpPr>
        <p:spPr>
          <a:xfrm>
            <a:off x="502920" y="1069848"/>
            <a:ext cx="11155680" cy="0"/>
          </a:xfrm>
          <a:prstGeom prst="line">
            <a:avLst/>
          </a:prstGeom>
          <a:noFill/>
          <a:ln w="12700">
            <a:solidFill>
              <a:srgbClr val="CBD5E1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94360" y="1344168"/>
            <a:ext cx="457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102A43"/>
                </a:solidFill>
              </a:rPr>
              <a:t>Nome:</a:t>
            </a:r>
            <a:endParaRPr lang="en-US" sz="1050" dirty="0"/>
          </a:p>
        </p:txBody>
      </p:sp>
      <p:sp>
        <p:nvSpPr>
          <p:cNvPr id="7" name="Text 5"/>
          <p:cNvSpPr/>
          <p:nvPr/>
        </p:nvSpPr>
        <p:spPr>
          <a:xfrm>
            <a:off x="1051560" y="1298448"/>
            <a:ext cx="3657600" cy="329184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>
                <a:alpha val="95000"/>
              </a:srgbClr>
            </a:solidFill>
            <a:headEnd type="none"/>
            <a:tailEnd type="none"/>
          </a:ln>
        </p:spPr>
        <p:txBody>
          <a:bodyPr wrap="square" lIns="1524" tIns="1524" rIns="1524" bIns="1524" rtlCol="0" anchor="t">
            <a:normAutofit/>
          </a:bodyPr>
          <a:lstStyle/>
          <a:p>
            <a:pPr indent="0" marL="0">
              <a:buNone/>
            </a:pPr>
            <a:r>
              <a:rPr lang="en-US" sz="900" i="1" dirty="0">
                <a:solidFill>
                  <a:srgbClr val="7B8794"/>
                </a:solidFill>
              </a:rPr>
              <a:t>Digite o nome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4983480" y="1344168"/>
            <a:ext cx="5029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102A43"/>
                </a:solidFill>
              </a:rPr>
              <a:t>Turma:</a:t>
            </a:r>
            <a:endParaRPr lang="en-US" sz="1050" dirty="0"/>
          </a:p>
        </p:txBody>
      </p:sp>
      <p:sp>
        <p:nvSpPr>
          <p:cNvPr id="9" name="Text 7"/>
          <p:cNvSpPr/>
          <p:nvPr/>
        </p:nvSpPr>
        <p:spPr>
          <a:xfrm>
            <a:off x="5532120" y="1298448"/>
            <a:ext cx="2103120" cy="329184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>
                <a:alpha val="95000"/>
              </a:srgbClr>
            </a:solidFill>
            <a:headEnd type="none"/>
            <a:tailEnd type="none"/>
          </a:ln>
        </p:spPr>
        <p:txBody>
          <a:bodyPr wrap="square" lIns="1524" tIns="1524" rIns="1524" bIns="1524" rtlCol="0" anchor="t">
            <a:normAutofit/>
          </a:bodyPr>
          <a:lstStyle/>
          <a:p>
            <a:pPr indent="0" marL="0">
              <a:buNone/>
            </a:pPr>
            <a:r>
              <a:rPr lang="en-US" sz="900" i="1" dirty="0">
                <a:solidFill>
                  <a:srgbClr val="7B8794"/>
                </a:solidFill>
              </a:rPr>
              <a:t>Digite a turma</a:t>
            </a:r>
            <a:endParaRPr lang="en-US" sz="900" dirty="0"/>
          </a:p>
        </p:txBody>
      </p:sp>
      <p:sp>
        <p:nvSpPr>
          <p:cNvPr id="10" name="Text 8"/>
          <p:cNvSpPr/>
          <p:nvPr/>
        </p:nvSpPr>
        <p:spPr>
          <a:xfrm>
            <a:off x="7909560" y="1344168"/>
            <a:ext cx="4114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102A43"/>
                </a:solidFill>
              </a:rPr>
              <a:t>Data:</a:t>
            </a:r>
            <a:endParaRPr lang="en-US" sz="1050" dirty="0"/>
          </a:p>
        </p:txBody>
      </p:sp>
      <p:sp>
        <p:nvSpPr>
          <p:cNvPr id="11" name="Text 9"/>
          <p:cNvSpPr/>
          <p:nvPr/>
        </p:nvSpPr>
        <p:spPr>
          <a:xfrm>
            <a:off x="8321040" y="1298448"/>
            <a:ext cx="1965960" cy="329184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>
                <a:alpha val="95000"/>
              </a:srgbClr>
            </a:solidFill>
            <a:headEnd type="none"/>
            <a:tailEnd type="none"/>
          </a:ln>
        </p:spPr>
        <p:txBody>
          <a:bodyPr wrap="square" lIns="1524" tIns="1524" rIns="1524" bIns="1524" rtlCol="0" anchor="t">
            <a:normAutofit/>
          </a:bodyPr>
          <a:lstStyle/>
          <a:p>
            <a:pPr indent="0" marL="0">
              <a:buNone/>
            </a:pPr>
            <a:r>
              <a:rPr lang="en-US" sz="900" i="1" dirty="0">
                <a:solidFill>
                  <a:srgbClr val="7B8794"/>
                </a:solidFill>
              </a:rPr>
              <a:t>Digite a data</a:t>
            </a:r>
            <a:endParaRPr lang="en-US" sz="900" dirty="0"/>
          </a:p>
        </p:txBody>
      </p:sp>
      <p:sp>
        <p:nvSpPr>
          <p:cNvPr id="12" name="Text 10"/>
          <p:cNvSpPr/>
          <p:nvPr/>
        </p:nvSpPr>
        <p:spPr>
          <a:xfrm>
            <a:off x="10469880" y="1344168"/>
            <a:ext cx="5029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102A43"/>
                </a:solidFill>
              </a:rPr>
              <a:t>Grupo:</a:t>
            </a:r>
            <a:endParaRPr lang="en-US" sz="1050" dirty="0"/>
          </a:p>
        </p:txBody>
      </p:sp>
      <p:sp>
        <p:nvSpPr>
          <p:cNvPr id="13" name="Text 11"/>
          <p:cNvSpPr/>
          <p:nvPr/>
        </p:nvSpPr>
        <p:spPr>
          <a:xfrm>
            <a:off x="10972800" y="1298448"/>
            <a:ext cx="685800" cy="329184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>
                <a:alpha val="95000"/>
              </a:srgbClr>
            </a:solidFill>
            <a:headEnd type="none"/>
            <a:tailEnd type="none"/>
          </a:ln>
        </p:spPr>
        <p:txBody>
          <a:bodyPr wrap="square" lIns="1524" tIns="1524" rIns="1524" bIns="1524" rtlCol="0" anchor="t">
            <a:normAutofit/>
          </a:bodyPr>
          <a:lstStyle/>
          <a:p>
            <a:pPr indent="0" marL="0">
              <a:buNone/>
            </a:pPr>
            <a:r>
              <a:rPr lang="en-US" sz="900" i="1" dirty="0">
                <a:solidFill>
                  <a:srgbClr val="7B8794"/>
                </a:solidFill>
              </a:rPr>
              <a:t>Nº</a:t>
            </a:r>
            <a:endParaRPr lang="en-US" sz="900" dirty="0"/>
          </a:p>
        </p:txBody>
      </p:sp>
      <p:sp>
        <p:nvSpPr>
          <p:cNvPr id="14" name="Text 12"/>
          <p:cNvSpPr/>
          <p:nvPr/>
        </p:nvSpPr>
        <p:spPr>
          <a:xfrm>
            <a:off x="777240" y="1920240"/>
            <a:ext cx="3337560" cy="960120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/>
            </a:solidFill>
          </a:ln>
        </p:spPr>
        <p:txBody>
          <a:bodyPr wrap="square" lIns="1651" tIns="1651" rIns="1651" bIns="1651" rtlCol="0" anchor="ctr">
            <a:normAutofit/>
          </a:bodyPr>
          <a:lstStyle/>
          <a:p>
            <a:pPr indent="0" marL="0">
              <a:buNone/>
            </a:pPr>
            <a:r>
              <a:rPr lang="en-US" sz="1100" dirty="0">
                <a:solidFill>
                  <a:srgbClr val="1F2937"/>
                </a:solidFill>
              </a:rPr>
              <a:t>1. Leia o cenário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1F2937"/>
                </a:solidFill>
              </a:rPr>
              <a:t>Identifique as informações principais antes de preencher.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777240" y="1920240"/>
            <a:ext cx="73152" cy="960120"/>
          </a:xfrm>
          <a:prstGeom prst="rect">
            <a:avLst/>
          </a:prstGeom>
          <a:solidFill>
            <a:srgbClr val="2F80ED"/>
          </a:solidFill>
          <a:ln w="12700">
            <a:solidFill>
              <a:srgbClr val="2F80ED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4434840" y="1920240"/>
            <a:ext cx="3337560" cy="960120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/>
            </a:solidFill>
          </a:ln>
        </p:spPr>
        <p:txBody>
          <a:bodyPr wrap="square" lIns="1651" tIns="1651" rIns="1651" bIns="1651" rtlCol="0" anchor="ctr">
            <a:normAutofit/>
          </a:bodyPr>
          <a:lstStyle/>
          <a:p>
            <a:pPr indent="0" marL="0">
              <a:buNone/>
            </a:pPr>
            <a:r>
              <a:rPr lang="en-US" sz="1100" dirty="0">
                <a:solidFill>
                  <a:srgbClr val="1F2937"/>
                </a:solidFill>
              </a:rPr>
              <a:t>2. Preencha com evidências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1F2937"/>
                </a:solidFill>
              </a:rPr>
              <a:t>Use frases curtas e justificativas baseadas no caso.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4434840" y="1920240"/>
            <a:ext cx="73152" cy="960120"/>
          </a:xfrm>
          <a:prstGeom prst="rect">
            <a:avLst/>
          </a:prstGeom>
          <a:solidFill>
            <a:srgbClr val="00A6A6"/>
          </a:solidFill>
          <a:ln w="12700">
            <a:solidFill>
              <a:srgbClr val="00A6A6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8092440" y="1920240"/>
            <a:ext cx="3337560" cy="960120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/>
            </a:solidFill>
          </a:ln>
        </p:spPr>
        <p:txBody>
          <a:bodyPr wrap="square" lIns="1651" tIns="1651" rIns="1651" bIns="1651" rtlCol="0" anchor="ctr">
            <a:normAutofit/>
          </a:bodyPr>
          <a:lstStyle/>
          <a:p>
            <a:pPr indent="0" marL="0">
              <a:buNone/>
            </a:pPr>
            <a:r>
              <a:rPr lang="en-US" sz="1100" dirty="0">
                <a:solidFill>
                  <a:srgbClr val="1F2937"/>
                </a:solidFill>
              </a:rPr>
              <a:t>3. Revise antes de enviar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1F2937"/>
                </a:solidFill>
              </a:rPr>
              <a:t>Verifique se todos os campos obrigatórios foram respondidos.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8092440" y="1920240"/>
            <a:ext cx="73152" cy="960120"/>
          </a:xfrm>
          <a:prstGeom prst="rect">
            <a:avLst/>
          </a:prstGeom>
          <a:solidFill>
            <a:srgbClr val="E63946"/>
          </a:solidFill>
          <a:ln w="12700">
            <a:solidFill>
              <a:srgbClr val="E63946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777240" y="3429000"/>
            <a:ext cx="20116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02A43"/>
                </a:solidFill>
              </a:rPr>
              <a:t>Entrega final</a:t>
            </a:r>
            <a:endParaRPr lang="en-US" sz="1800" dirty="0"/>
          </a:p>
        </p:txBody>
      </p:sp>
      <p:sp>
        <p:nvSpPr>
          <p:cNvPr id="21" name="Text 19"/>
          <p:cNvSpPr/>
          <p:nvPr/>
        </p:nvSpPr>
        <p:spPr>
          <a:xfrm>
            <a:off x="914400" y="3950208"/>
            <a:ext cx="228600" cy="228600"/>
          </a:xfrm>
          <a:prstGeom prst="rect">
            <a:avLst/>
          </a:prstGeom>
          <a:solidFill>
            <a:srgbClr val="2F80ED"/>
          </a:solidFill>
          <a:ln>
            <a:solidFill>
              <a:srgbClr val="2F80ED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</a:rPr>
              <a:t>1</a:t>
            </a:r>
            <a:endParaRPr lang="en-US" sz="900" dirty="0"/>
          </a:p>
        </p:txBody>
      </p:sp>
      <p:sp>
        <p:nvSpPr>
          <p:cNvPr id="22" name="Text 20"/>
          <p:cNvSpPr/>
          <p:nvPr/>
        </p:nvSpPr>
        <p:spPr>
          <a:xfrm>
            <a:off x="1216152" y="3941064"/>
            <a:ext cx="8046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F2937"/>
                </a:solidFill>
              </a:rPr>
              <a:t>Todos os campos preenchidos</a:t>
            </a:r>
            <a:endParaRPr lang="en-US" sz="1000" dirty="0"/>
          </a:p>
        </p:txBody>
      </p:sp>
      <p:sp>
        <p:nvSpPr>
          <p:cNvPr id="23" name="Text 21"/>
          <p:cNvSpPr/>
          <p:nvPr/>
        </p:nvSpPr>
        <p:spPr>
          <a:xfrm>
            <a:off x="914400" y="4334256"/>
            <a:ext cx="228600" cy="228600"/>
          </a:xfrm>
          <a:prstGeom prst="rect">
            <a:avLst/>
          </a:prstGeom>
          <a:solidFill>
            <a:srgbClr val="2F80ED"/>
          </a:solidFill>
          <a:ln>
            <a:solidFill>
              <a:srgbClr val="2F80ED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</a:rPr>
              <a:t>2</a:t>
            </a:r>
            <a:endParaRPr lang="en-US" sz="900" dirty="0"/>
          </a:p>
        </p:txBody>
      </p:sp>
      <p:sp>
        <p:nvSpPr>
          <p:cNvPr id="24" name="Text 22"/>
          <p:cNvSpPr/>
          <p:nvPr/>
        </p:nvSpPr>
        <p:spPr>
          <a:xfrm>
            <a:off x="1216152" y="4325112"/>
            <a:ext cx="8046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F2937"/>
                </a:solidFill>
              </a:rPr>
              <a:t>Respostas com justificativa</a:t>
            </a:r>
            <a:endParaRPr lang="en-US" sz="1000" dirty="0"/>
          </a:p>
        </p:txBody>
      </p:sp>
      <p:sp>
        <p:nvSpPr>
          <p:cNvPr id="25" name="Text 23"/>
          <p:cNvSpPr/>
          <p:nvPr/>
        </p:nvSpPr>
        <p:spPr>
          <a:xfrm>
            <a:off x="914400" y="4718304"/>
            <a:ext cx="228600" cy="228600"/>
          </a:xfrm>
          <a:prstGeom prst="rect">
            <a:avLst/>
          </a:prstGeom>
          <a:solidFill>
            <a:srgbClr val="2F80ED"/>
          </a:solidFill>
          <a:ln>
            <a:solidFill>
              <a:srgbClr val="2F80ED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</a:rPr>
              <a:t>3</a:t>
            </a:r>
            <a:endParaRPr lang="en-US" sz="900" dirty="0"/>
          </a:p>
        </p:txBody>
      </p:sp>
      <p:sp>
        <p:nvSpPr>
          <p:cNvPr id="26" name="Text 24"/>
          <p:cNvSpPr/>
          <p:nvPr/>
        </p:nvSpPr>
        <p:spPr>
          <a:xfrm>
            <a:off x="1216152" y="4709160"/>
            <a:ext cx="8046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F2937"/>
                </a:solidFill>
              </a:rPr>
              <a:t>Prioridades indicadas com base em probabilidade e impacto</a:t>
            </a:r>
            <a:endParaRPr lang="en-US" sz="1000" dirty="0"/>
          </a:p>
        </p:txBody>
      </p:sp>
      <p:sp>
        <p:nvSpPr>
          <p:cNvPr id="27" name="Text 25"/>
          <p:cNvSpPr/>
          <p:nvPr/>
        </p:nvSpPr>
        <p:spPr>
          <a:xfrm>
            <a:off x="914400" y="5102352"/>
            <a:ext cx="228600" cy="228600"/>
          </a:xfrm>
          <a:prstGeom prst="rect">
            <a:avLst/>
          </a:prstGeom>
          <a:solidFill>
            <a:srgbClr val="2F80ED"/>
          </a:solidFill>
          <a:ln>
            <a:solidFill>
              <a:srgbClr val="2F80ED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</a:rPr>
              <a:t>4</a:t>
            </a:r>
            <a:endParaRPr lang="en-US" sz="900" dirty="0"/>
          </a:p>
        </p:txBody>
      </p:sp>
      <p:sp>
        <p:nvSpPr>
          <p:cNvPr id="28" name="Text 26"/>
          <p:cNvSpPr/>
          <p:nvPr/>
        </p:nvSpPr>
        <p:spPr>
          <a:xfrm>
            <a:off x="1216152" y="5093208"/>
            <a:ext cx="8046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F2937"/>
                </a:solidFill>
              </a:rPr>
              <a:t>Medida de mitigação específica e executável</a:t>
            </a:r>
            <a:endParaRPr lang="en-US" sz="1000" dirty="0"/>
          </a:p>
        </p:txBody>
      </p:sp>
      <p:sp>
        <p:nvSpPr>
          <p:cNvPr id="29" name="Text 27"/>
          <p:cNvSpPr/>
          <p:nvPr/>
        </p:nvSpPr>
        <p:spPr>
          <a:xfrm>
            <a:off x="777240" y="5559552"/>
            <a:ext cx="10698480" cy="658368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>
                <a:alpha val="95000"/>
              </a:srgbClr>
            </a:solidFill>
            <a:headEnd type="none"/>
            <a:tailEnd type="none"/>
          </a:ln>
        </p:spPr>
        <p:txBody>
          <a:bodyPr wrap="square" lIns="1524" tIns="1524" rIns="1524" bIns="1524" rtlCol="0" anchor="t">
            <a:normAutofit/>
          </a:bodyPr>
          <a:lstStyle/>
          <a:p>
            <a:pPr indent="0" marL="0">
              <a:buNone/>
            </a:pPr>
            <a:r>
              <a:rPr lang="en-US" sz="1100" i="1" dirty="0">
                <a:solidFill>
                  <a:srgbClr val="7B8794"/>
                </a:solidFill>
              </a:rPr>
              <a:t>Observações do grupo antes da entrega...</a:t>
            </a:r>
            <a:endParaRPr lang="en-US" sz="1100" dirty="0"/>
          </a:p>
        </p:txBody>
      </p:sp>
      <p:sp>
        <p:nvSpPr>
          <p:cNvPr id="30" name="Text 28"/>
          <p:cNvSpPr/>
          <p:nvPr/>
        </p:nvSpPr>
        <p:spPr>
          <a:xfrm>
            <a:off x="502920" y="6446520"/>
            <a:ext cx="33832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58616D"/>
                </a:solidFill>
              </a:rPr>
              <a:t>Aprender em Ação | Gestão de riscos | 2</a:t>
            </a:r>
            <a:endParaRPr lang="en-US" sz="800" dirty="0"/>
          </a:p>
        </p:txBody>
      </p:sp>
      <p:sp>
        <p:nvSpPr>
          <p:cNvPr id="31" name="Text 29"/>
          <p:cNvSpPr/>
          <p:nvPr/>
        </p:nvSpPr>
        <p:spPr>
          <a:xfrm>
            <a:off x="8321040" y="6446520"/>
            <a:ext cx="33375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58616D"/>
                </a:solidFill>
              </a:rPr>
              <a:t>Preencha os campos no PowerPoint</a:t>
            </a:r>
            <a:endParaRPr lang="en-US" sz="8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7F9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20040"/>
            <a:ext cx="77724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02A4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Aula 1 — Cenário para análise</a:t>
            </a:r>
            <a:endParaRPr lang="en-US" sz="2400" dirty="0"/>
          </a:p>
        </p:txBody>
      </p:sp>
      <p:sp>
        <p:nvSpPr>
          <p:cNvPr id="3" name="Text 1"/>
          <p:cNvSpPr/>
          <p:nvPr/>
        </p:nvSpPr>
        <p:spPr>
          <a:xfrm>
            <a:off x="502920" y="768096"/>
            <a:ext cx="80467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58616D"/>
                </a:solidFill>
              </a:rPr>
              <a:t>PagoDigital: exposição de dados cadastrais associados a chaves Pix.</a:t>
            </a:r>
            <a:endParaRPr lang="en-US" sz="1050" dirty="0"/>
          </a:p>
        </p:txBody>
      </p:sp>
      <p:sp>
        <p:nvSpPr>
          <p:cNvPr id="4" name="Text 2"/>
          <p:cNvSpPr/>
          <p:nvPr/>
        </p:nvSpPr>
        <p:spPr>
          <a:xfrm>
            <a:off x="9372600" y="320040"/>
            <a:ext cx="2304288" cy="347472"/>
          </a:xfrm>
          <a:prstGeom prst="rect">
            <a:avLst/>
          </a:prstGeom>
          <a:solidFill>
            <a:srgbClr val="102A43"/>
          </a:solidFill>
          <a:ln>
            <a:solidFill>
              <a:srgbClr val="102A43"/>
            </a:solidFill>
          </a:ln>
        </p:spPr>
        <p:txBody>
          <a:bodyPr wrap="square" lIns="508" tIns="508" rIns="508" bIns="508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FFFFFF"/>
                </a:solidFill>
              </a:rPr>
              <a:t>AULA 1</a:t>
            </a:r>
            <a:endParaRPr lang="en-US" sz="1150" dirty="0"/>
          </a:p>
        </p:txBody>
      </p:sp>
      <p:sp>
        <p:nvSpPr>
          <p:cNvPr id="5" name="Shape 3"/>
          <p:cNvSpPr/>
          <p:nvPr/>
        </p:nvSpPr>
        <p:spPr>
          <a:xfrm>
            <a:off x="502920" y="1069848"/>
            <a:ext cx="11155680" cy="0"/>
          </a:xfrm>
          <a:prstGeom prst="line">
            <a:avLst/>
          </a:prstGeom>
          <a:noFill/>
          <a:ln w="12700">
            <a:solidFill>
              <a:srgbClr val="CBD5E1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685800" y="1325880"/>
            <a:ext cx="4937760" cy="960120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/>
            </a:solidFill>
          </a:ln>
        </p:spPr>
        <p:txBody>
          <a:bodyPr wrap="square" lIns="1651" tIns="1651" rIns="1651" bIns="1651" rtlCol="0" anchor="ctr">
            <a:normAutofit/>
          </a:bodyPr>
          <a:lstStyle/>
          <a:p>
            <a:pPr indent="0" marL="0">
              <a:buNone/>
            </a:pPr>
            <a:r>
              <a:rPr lang="en-US" sz="1100" dirty="0">
                <a:solidFill>
                  <a:srgbClr val="1F2937"/>
                </a:solidFill>
              </a:rPr>
              <a:t>Situação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1F2937"/>
                </a:solidFill>
              </a:rPr>
              <a:t>Você é analista júnior de segurança na PagoDigital, uma fintech com conta digital e chaves Pix para mais de 2 milhões de clientes.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685800" y="1325880"/>
            <a:ext cx="73152" cy="960120"/>
          </a:xfrm>
          <a:prstGeom prst="rect">
            <a:avLst/>
          </a:prstGeom>
          <a:solidFill>
            <a:srgbClr val="2F80ED"/>
          </a:solidFill>
          <a:ln w="12700">
            <a:solidFill>
              <a:srgbClr val="2F80ED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685800" y="2542032"/>
            <a:ext cx="4937760" cy="1143000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/>
            </a:solidFill>
          </a:ln>
        </p:spPr>
        <p:txBody>
          <a:bodyPr wrap="square" lIns="1651" tIns="1651" rIns="1651" bIns="1651" rtlCol="0" anchor="ctr">
            <a:normAutofit/>
          </a:bodyPr>
          <a:lstStyle/>
          <a:p>
            <a:pPr indent="0" marL="0">
              <a:buNone/>
            </a:pPr>
            <a:r>
              <a:rPr lang="en-US" sz="1100" dirty="0">
                <a:solidFill>
                  <a:srgbClr val="1F2937"/>
                </a:solidFill>
              </a:rPr>
              <a:t>Incidente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1F2937"/>
                </a:solidFill>
              </a:rPr>
              <a:t>Uma falha de configuração deixou nome, CPF e telefone visíveis para qualquer usuário autenticado no sistema interno por cerca de seis horas.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685800" y="2542032"/>
            <a:ext cx="73152" cy="1143000"/>
          </a:xfrm>
          <a:prstGeom prst="rect">
            <a:avLst/>
          </a:prstGeom>
          <a:solidFill>
            <a:srgbClr val="E63946"/>
          </a:solidFill>
          <a:ln w="12700">
            <a:solidFill>
              <a:srgbClr val="E63946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685800" y="3977640"/>
            <a:ext cx="4937760" cy="868680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/>
            </a:solidFill>
          </a:ln>
        </p:spPr>
        <p:txBody>
          <a:bodyPr wrap="square" lIns="1651" tIns="1651" rIns="1651" bIns="1651" rtlCol="0" anchor="ctr">
            <a:normAutofit/>
          </a:bodyPr>
          <a:lstStyle/>
          <a:p>
            <a:pPr indent="0" marL="0">
              <a:buNone/>
            </a:pPr>
            <a:r>
              <a:rPr lang="en-US" sz="1100" dirty="0">
                <a:solidFill>
                  <a:srgbClr val="1F2937"/>
                </a:solidFill>
              </a:rPr>
              <a:t>Sua tarefa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1F2937"/>
                </a:solidFill>
              </a:rPr>
              <a:t>Registrar o incidente e identificar ativo, ameaça, vulnerabilidade e impacto.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685800" y="3977640"/>
            <a:ext cx="73152" cy="868680"/>
          </a:xfrm>
          <a:prstGeom prst="rect">
            <a:avLst/>
          </a:prstGeom>
          <a:solidFill>
            <a:srgbClr val="00A6A6"/>
          </a:solidFill>
          <a:ln w="12700">
            <a:solidFill>
              <a:srgbClr val="00A6A6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6172200" y="1298448"/>
            <a:ext cx="3840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02A43"/>
                </a:solidFill>
              </a:rPr>
              <a:t>Anotações rápidas do cenário</a:t>
            </a:r>
            <a:endParaRPr lang="en-US" sz="1800" dirty="0"/>
          </a:p>
        </p:txBody>
      </p:sp>
      <p:sp>
        <p:nvSpPr>
          <p:cNvPr id="13" name="Text 11"/>
          <p:cNvSpPr/>
          <p:nvPr/>
        </p:nvSpPr>
        <p:spPr>
          <a:xfrm>
            <a:off x="6172200" y="1737360"/>
            <a:ext cx="5349240" cy="3383280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>
                <a:alpha val="95000"/>
              </a:srgbClr>
            </a:solidFill>
            <a:headEnd type="none"/>
            <a:tailEnd type="none"/>
          </a:ln>
        </p:spPr>
        <p:txBody>
          <a:bodyPr wrap="square" lIns="1524" tIns="1524" rIns="1524" bIns="1524" rtlCol="0" anchor="t">
            <a:normAutofit/>
          </a:bodyPr>
          <a:lstStyle/>
          <a:p>
            <a:pPr indent="0" marL="0">
              <a:buNone/>
            </a:pPr>
            <a:r>
              <a:rPr lang="en-US" sz="1200" i="1" dirty="0">
                <a:solidFill>
                  <a:srgbClr val="7B8794"/>
                </a:solidFill>
              </a:rPr>
              <a:t>Digite aqui palavras-chave do caso...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6172200" y="5349240"/>
            <a:ext cx="5349240" cy="731520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>
                <a:alpha val="95000"/>
              </a:srgbClr>
            </a:solidFill>
            <a:headEnd type="none"/>
            <a:tailEnd type="none"/>
          </a:ln>
        </p:spPr>
        <p:txBody>
          <a:bodyPr wrap="square" lIns="1524" tIns="1524" rIns="1524" bIns="1524" rtlCol="0" anchor="t">
            <a:normAutofit/>
          </a:bodyPr>
          <a:lstStyle/>
          <a:p>
            <a:pPr indent="0" marL="0">
              <a:buNone/>
            </a:pPr>
            <a:r>
              <a:rPr lang="en-US" sz="1200" i="1" dirty="0">
                <a:solidFill>
                  <a:srgbClr val="7B8794"/>
                </a:solidFill>
              </a:rPr>
              <a:t>Qual foi o principal problema percebido?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502920" y="6446520"/>
            <a:ext cx="33832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58616D"/>
                </a:solidFill>
              </a:rPr>
              <a:t>Aprender em Ação | Gestão de riscos | 3</a:t>
            </a:r>
            <a:endParaRPr lang="en-US" sz="800" dirty="0"/>
          </a:p>
        </p:txBody>
      </p:sp>
      <p:sp>
        <p:nvSpPr>
          <p:cNvPr id="16" name="Text 14"/>
          <p:cNvSpPr/>
          <p:nvPr/>
        </p:nvSpPr>
        <p:spPr>
          <a:xfrm>
            <a:off x="8321040" y="6446520"/>
            <a:ext cx="33375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58616D"/>
                </a:solidFill>
              </a:rPr>
              <a:t>Preencha os campos no PowerPoint</a:t>
            </a:r>
            <a:endParaRPr lang="en-US" sz="8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7F9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20040"/>
            <a:ext cx="77724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02A4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Aula 1 — Identificação dos quatro elementos do risco</a:t>
            </a:r>
            <a:endParaRPr lang="en-US" sz="2400" dirty="0"/>
          </a:p>
        </p:txBody>
      </p:sp>
      <p:sp>
        <p:nvSpPr>
          <p:cNvPr id="3" name="Text 1"/>
          <p:cNvSpPr/>
          <p:nvPr/>
        </p:nvSpPr>
        <p:spPr>
          <a:xfrm>
            <a:off x="502920" y="768096"/>
            <a:ext cx="80467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58616D"/>
                </a:solidFill>
              </a:rPr>
              <a:t>Preencha cada elemento usando o cenário da PagoDigital.</a:t>
            </a:r>
            <a:endParaRPr lang="en-US" sz="1050" dirty="0"/>
          </a:p>
        </p:txBody>
      </p:sp>
      <p:sp>
        <p:nvSpPr>
          <p:cNvPr id="4" name="Text 2"/>
          <p:cNvSpPr/>
          <p:nvPr/>
        </p:nvSpPr>
        <p:spPr>
          <a:xfrm>
            <a:off x="9372600" y="320040"/>
            <a:ext cx="2304288" cy="347472"/>
          </a:xfrm>
          <a:prstGeom prst="rect">
            <a:avLst/>
          </a:prstGeom>
          <a:solidFill>
            <a:srgbClr val="102A43"/>
          </a:solidFill>
          <a:ln>
            <a:solidFill>
              <a:srgbClr val="102A43"/>
            </a:solidFill>
          </a:ln>
        </p:spPr>
        <p:txBody>
          <a:bodyPr wrap="square" lIns="508" tIns="508" rIns="508" bIns="508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FFFFFF"/>
                </a:solidFill>
              </a:rPr>
              <a:t>AULA 1</a:t>
            </a:r>
            <a:endParaRPr lang="en-US" sz="1150" dirty="0"/>
          </a:p>
        </p:txBody>
      </p:sp>
      <p:sp>
        <p:nvSpPr>
          <p:cNvPr id="5" name="Shape 3"/>
          <p:cNvSpPr/>
          <p:nvPr/>
        </p:nvSpPr>
        <p:spPr>
          <a:xfrm>
            <a:off x="502920" y="1069848"/>
            <a:ext cx="11155680" cy="0"/>
          </a:xfrm>
          <a:prstGeom prst="line">
            <a:avLst/>
          </a:prstGeom>
          <a:noFill/>
          <a:ln w="12700">
            <a:solidFill>
              <a:srgbClr val="CBD5E1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685800" y="1353312"/>
            <a:ext cx="1874520" cy="621792"/>
          </a:xfrm>
          <a:prstGeom prst="rect">
            <a:avLst/>
          </a:prstGeom>
          <a:solidFill>
            <a:srgbClr val="2F80ED"/>
          </a:solidFill>
          <a:ln>
            <a:solidFill>
              <a:srgbClr val="2F80ED"/>
            </a:solidFill>
          </a:ln>
        </p:spPr>
        <p:txBody>
          <a:bodyPr wrap="square" lIns="1016" tIns="1016" rIns="1016" bIns="1016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</a:rPr>
              <a:t>Ativo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2788920" y="1353312"/>
            <a:ext cx="8732520" cy="621792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>
                <a:alpha val="95000"/>
              </a:srgbClr>
            </a:solidFill>
            <a:headEnd type="none"/>
            <a:tailEnd type="none"/>
          </a:ln>
        </p:spPr>
        <p:txBody>
          <a:bodyPr wrap="square" lIns="1524" tIns="1524" rIns="1524" bIns="1524" rtlCol="0" anchor="t">
            <a:normAutofit/>
          </a:bodyPr>
          <a:lstStyle/>
          <a:p>
            <a:pPr indent="0" marL="0">
              <a:buNone/>
            </a:pPr>
            <a:r>
              <a:rPr lang="en-US" sz="1200" i="1" dirty="0">
                <a:solidFill>
                  <a:srgbClr val="7B8794"/>
                </a:solidFill>
              </a:rPr>
              <a:t>O que precisa ser protegido?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685800" y="2404872"/>
            <a:ext cx="1874520" cy="621792"/>
          </a:xfrm>
          <a:prstGeom prst="rect">
            <a:avLst/>
          </a:prstGeom>
          <a:solidFill>
            <a:srgbClr val="00A6A6"/>
          </a:solidFill>
          <a:ln>
            <a:solidFill>
              <a:srgbClr val="00A6A6"/>
            </a:solidFill>
          </a:ln>
        </p:spPr>
        <p:txBody>
          <a:bodyPr wrap="square" lIns="1016" tIns="1016" rIns="1016" bIns="1016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</a:rPr>
              <a:t>Ameaça</a:t>
            </a:r>
            <a:endParaRPr lang="en-US" sz="1500" dirty="0"/>
          </a:p>
        </p:txBody>
      </p:sp>
      <p:sp>
        <p:nvSpPr>
          <p:cNvPr id="9" name="Text 7"/>
          <p:cNvSpPr/>
          <p:nvPr/>
        </p:nvSpPr>
        <p:spPr>
          <a:xfrm>
            <a:off x="2788920" y="2404872"/>
            <a:ext cx="8732520" cy="621792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>
                <a:alpha val="95000"/>
              </a:srgbClr>
            </a:solidFill>
            <a:headEnd type="none"/>
            <a:tailEnd type="none"/>
          </a:ln>
        </p:spPr>
        <p:txBody>
          <a:bodyPr wrap="square" lIns="1524" tIns="1524" rIns="1524" bIns="1524" rtlCol="0" anchor="t">
            <a:normAutofit/>
          </a:bodyPr>
          <a:lstStyle/>
          <a:p>
            <a:pPr indent="0" marL="0">
              <a:buNone/>
            </a:pPr>
            <a:r>
              <a:rPr lang="en-US" sz="1200" i="1" dirty="0">
                <a:solidFill>
                  <a:srgbClr val="7B8794"/>
                </a:solidFill>
              </a:rPr>
              <a:t>Quem ou o que pode explorar a fragilidade?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685800" y="3456432"/>
            <a:ext cx="1874520" cy="621792"/>
          </a:xfrm>
          <a:prstGeom prst="rect">
            <a:avLst/>
          </a:prstGeom>
          <a:solidFill>
            <a:srgbClr val="F2994A"/>
          </a:solidFill>
          <a:ln>
            <a:solidFill>
              <a:srgbClr val="F2994A"/>
            </a:solidFill>
          </a:ln>
        </p:spPr>
        <p:txBody>
          <a:bodyPr wrap="square" lIns="1016" tIns="1016" rIns="1016" bIns="1016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</a:rPr>
              <a:t>Vulnerabilidade</a:t>
            </a:r>
            <a:endParaRPr lang="en-US" sz="1500" dirty="0"/>
          </a:p>
        </p:txBody>
      </p:sp>
      <p:sp>
        <p:nvSpPr>
          <p:cNvPr id="11" name="Text 9"/>
          <p:cNvSpPr/>
          <p:nvPr/>
        </p:nvSpPr>
        <p:spPr>
          <a:xfrm>
            <a:off x="2788920" y="3456432"/>
            <a:ext cx="8732520" cy="621792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>
                <a:alpha val="95000"/>
              </a:srgbClr>
            </a:solidFill>
            <a:headEnd type="none"/>
            <a:tailEnd type="none"/>
          </a:ln>
        </p:spPr>
        <p:txBody>
          <a:bodyPr wrap="square" lIns="1524" tIns="1524" rIns="1524" bIns="1524" rtlCol="0" anchor="t">
            <a:normAutofit/>
          </a:bodyPr>
          <a:lstStyle/>
          <a:p>
            <a:pPr indent="0" marL="0">
              <a:buNone/>
            </a:pPr>
            <a:r>
              <a:rPr lang="en-US" sz="1200" i="1" dirty="0">
                <a:solidFill>
                  <a:srgbClr val="7B8794"/>
                </a:solidFill>
              </a:rPr>
              <a:t>Qual fragilidade permitiu o problema?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685800" y="4507992"/>
            <a:ext cx="1874520" cy="621792"/>
          </a:xfrm>
          <a:prstGeom prst="rect">
            <a:avLst/>
          </a:prstGeom>
          <a:solidFill>
            <a:srgbClr val="E63946"/>
          </a:solidFill>
          <a:ln>
            <a:solidFill>
              <a:srgbClr val="E63946"/>
            </a:solidFill>
          </a:ln>
        </p:spPr>
        <p:txBody>
          <a:bodyPr wrap="square" lIns="1016" tIns="1016" rIns="1016" bIns="1016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</a:rPr>
              <a:t>Impacto</a:t>
            </a:r>
            <a:endParaRPr lang="en-US" sz="1500" dirty="0"/>
          </a:p>
        </p:txBody>
      </p:sp>
      <p:sp>
        <p:nvSpPr>
          <p:cNvPr id="13" name="Text 11"/>
          <p:cNvSpPr/>
          <p:nvPr/>
        </p:nvSpPr>
        <p:spPr>
          <a:xfrm>
            <a:off x="2788920" y="4507992"/>
            <a:ext cx="8732520" cy="621792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>
                <a:alpha val="95000"/>
              </a:srgbClr>
            </a:solidFill>
            <a:headEnd type="none"/>
            <a:tailEnd type="none"/>
          </a:ln>
        </p:spPr>
        <p:txBody>
          <a:bodyPr wrap="square" lIns="1524" tIns="1524" rIns="1524" bIns="1524" rtlCol="0" anchor="t">
            <a:normAutofit/>
          </a:bodyPr>
          <a:lstStyle/>
          <a:p>
            <a:pPr indent="0" marL="0">
              <a:buNone/>
            </a:pPr>
            <a:r>
              <a:rPr lang="en-US" sz="1200" i="1" dirty="0">
                <a:solidFill>
                  <a:srgbClr val="7B8794"/>
                </a:solidFill>
              </a:rPr>
              <a:t>Qual consequência pode ocorrer?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685800" y="5687568"/>
            <a:ext cx="10835640" cy="566928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>
                <a:alpha val="95000"/>
              </a:srgbClr>
            </a:solidFill>
            <a:headEnd type="none"/>
            <a:tailEnd type="none"/>
          </a:ln>
        </p:spPr>
        <p:txBody>
          <a:bodyPr wrap="square" lIns="1524" tIns="1524" rIns="1524" bIns="1524" rtlCol="0" anchor="t">
            <a:normAutofit/>
          </a:bodyPr>
          <a:lstStyle/>
          <a:p>
            <a:pPr indent="0" marL="0">
              <a:buNone/>
            </a:pPr>
            <a:r>
              <a:rPr lang="en-US" sz="1100" i="1" dirty="0">
                <a:solidFill>
                  <a:srgbClr val="7B8794"/>
                </a:solidFill>
              </a:rPr>
              <a:t>Explique em 2 ou 3 frases como ameaça + vulnerabilidade podem afetar o ativo e gerar impacto...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502920" y="6446520"/>
            <a:ext cx="33832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58616D"/>
                </a:solidFill>
              </a:rPr>
              <a:t>Aprender em Ação | Gestão de riscos | 4</a:t>
            </a:r>
            <a:endParaRPr lang="en-US" sz="800" dirty="0"/>
          </a:p>
        </p:txBody>
      </p:sp>
      <p:sp>
        <p:nvSpPr>
          <p:cNvPr id="16" name="Text 14"/>
          <p:cNvSpPr/>
          <p:nvPr/>
        </p:nvSpPr>
        <p:spPr>
          <a:xfrm>
            <a:off x="8321040" y="6446520"/>
            <a:ext cx="33375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58616D"/>
                </a:solidFill>
              </a:rPr>
              <a:t>Preencha os campos no PowerPoint</a:t>
            </a:r>
            <a:endParaRPr lang="en-US" sz="8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7F9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20040"/>
            <a:ext cx="77724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02A4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Aula 1 — Conclusão da análise</a:t>
            </a:r>
            <a:endParaRPr lang="en-US" sz="2400" dirty="0"/>
          </a:p>
        </p:txBody>
      </p:sp>
      <p:sp>
        <p:nvSpPr>
          <p:cNvPr id="3" name="Text 1"/>
          <p:cNvSpPr/>
          <p:nvPr/>
        </p:nvSpPr>
        <p:spPr>
          <a:xfrm>
            <a:off x="502920" y="768096"/>
            <a:ext cx="80467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58616D"/>
                </a:solidFill>
              </a:rPr>
              <a:t>Use este slide para amarrar as ideias do risco.</a:t>
            </a:r>
            <a:endParaRPr lang="en-US" sz="1050" dirty="0"/>
          </a:p>
        </p:txBody>
      </p:sp>
      <p:sp>
        <p:nvSpPr>
          <p:cNvPr id="4" name="Text 2"/>
          <p:cNvSpPr/>
          <p:nvPr/>
        </p:nvSpPr>
        <p:spPr>
          <a:xfrm>
            <a:off x="9372600" y="320040"/>
            <a:ext cx="2304288" cy="347472"/>
          </a:xfrm>
          <a:prstGeom prst="rect">
            <a:avLst/>
          </a:prstGeom>
          <a:solidFill>
            <a:srgbClr val="102A43"/>
          </a:solidFill>
          <a:ln>
            <a:solidFill>
              <a:srgbClr val="102A43"/>
            </a:solidFill>
          </a:ln>
        </p:spPr>
        <p:txBody>
          <a:bodyPr wrap="square" lIns="508" tIns="508" rIns="508" bIns="508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FFFFFF"/>
                </a:solidFill>
              </a:rPr>
              <a:t>AULA 1</a:t>
            </a:r>
            <a:endParaRPr lang="en-US" sz="1150" dirty="0"/>
          </a:p>
        </p:txBody>
      </p:sp>
      <p:sp>
        <p:nvSpPr>
          <p:cNvPr id="5" name="Shape 3"/>
          <p:cNvSpPr/>
          <p:nvPr/>
        </p:nvSpPr>
        <p:spPr>
          <a:xfrm>
            <a:off x="502920" y="1069848"/>
            <a:ext cx="11155680" cy="0"/>
          </a:xfrm>
          <a:prstGeom prst="line">
            <a:avLst/>
          </a:prstGeom>
          <a:noFill/>
          <a:ln w="12700">
            <a:solidFill>
              <a:srgbClr val="CBD5E1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685800" y="1325880"/>
            <a:ext cx="3200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02A43"/>
                </a:solidFill>
              </a:rPr>
              <a:t>Complete a relação: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777240" y="1920240"/>
            <a:ext cx="1463040" cy="411480"/>
          </a:xfrm>
          <a:prstGeom prst="rect">
            <a:avLst/>
          </a:prstGeom>
          <a:solidFill>
            <a:srgbClr val="00A6A6"/>
          </a:solidFill>
          <a:ln>
            <a:solidFill>
              <a:srgbClr val="00A6A6"/>
            </a:solidFill>
          </a:ln>
        </p:spPr>
        <p:txBody>
          <a:bodyPr wrap="square" lIns="508" tIns="508" rIns="508" bIns="508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Ameaça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2441448" y="1920240"/>
            <a:ext cx="868680" cy="411480"/>
          </a:xfrm>
          <a:prstGeom prst="rect">
            <a:avLst/>
          </a:prstGeom>
          <a:solidFill>
            <a:srgbClr val="E5E7EB"/>
          </a:solidFill>
          <a:ln>
            <a:solidFill>
              <a:srgbClr val="E5E7EB"/>
            </a:solidFill>
          </a:ln>
        </p:spPr>
        <p:txBody>
          <a:bodyPr wrap="square" lIns="508" tIns="508" rIns="508" bIns="508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1F2937"/>
                </a:solidFill>
              </a:rPr>
              <a:t>explora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3511296" y="1920240"/>
            <a:ext cx="1463040" cy="411480"/>
          </a:xfrm>
          <a:prstGeom prst="rect">
            <a:avLst/>
          </a:prstGeom>
          <a:solidFill>
            <a:srgbClr val="F2994A"/>
          </a:solidFill>
          <a:ln>
            <a:solidFill>
              <a:srgbClr val="F2994A"/>
            </a:solidFill>
          </a:ln>
        </p:spPr>
        <p:txBody>
          <a:bodyPr wrap="square" lIns="508" tIns="508" rIns="508" bIns="508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Vulnerabilidade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5175504" y="1920240"/>
            <a:ext cx="868680" cy="411480"/>
          </a:xfrm>
          <a:prstGeom prst="rect">
            <a:avLst/>
          </a:prstGeom>
          <a:solidFill>
            <a:srgbClr val="E5E7EB"/>
          </a:solidFill>
          <a:ln>
            <a:solidFill>
              <a:srgbClr val="E5E7EB"/>
            </a:solidFill>
          </a:ln>
        </p:spPr>
        <p:txBody>
          <a:bodyPr wrap="square" lIns="508" tIns="508" rIns="508" bIns="508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1F2937"/>
                </a:solidFill>
              </a:rPr>
              <a:t>atinge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6245352" y="1920240"/>
            <a:ext cx="1463040" cy="411480"/>
          </a:xfrm>
          <a:prstGeom prst="rect">
            <a:avLst/>
          </a:prstGeom>
          <a:solidFill>
            <a:srgbClr val="2F80ED"/>
          </a:solidFill>
          <a:ln>
            <a:solidFill>
              <a:srgbClr val="2F80ED"/>
            </a:solidFill>
          </a:ln>
        </p:spPr>
        <p:txBody>
          <a:bodyPr wrap="square" lIns="508" tIns="508" rIns="508" bIns="508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Ativo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7909560" y="1920240"/>
            <a:ext cx="868680" cy="411480"/>
          </a:xfrm>
          <a:prstGeom prst="rect">
            <a:avLst/>
          </a:prstGeom>
          <a:solidFill>
            <a:srgbClr val="E5E7EB"/>
          </a:solidFill>
          <a:ln>
            <a:solidFill>
              <a:srgbClr val="E5E7EB"/>
            </a:solidFill>
          </a:ln>
        </p:spPr>
        <p:txBody>
          <a:bodyPr wrap="square" lIns="508" tIns="508" rIns="508" bIns="508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1F2937"/>
                </a:solidFill>
              </a:rPr>
              <a:t>gera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8979408" y="1920240"/>
            <a:ext cx="1463040" cy="411480"/>
          </a:xfrm>
          <a:prstGeom prst="rect">
            <a:avLst/>
          </a:prstGeom>
          <a:solidFill>
            <a:srgbClr val="E63946"/>
          </a:solidFill>
          <a:ln>
            <a:solidFill>
              <a:srgbClr val="E63946"/>
            </a:solidFill>
          </a:ln>
        </p:spPr>
        <p:txBody>
          <a:bodyPr wrap="square" lIns="508" tIns="508" rIns="508" bIns="508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Impacto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777240" y="2788920"/>
            <a:ext cx="10744200" cy="1051560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>
                <a:alpha val="95000"/>
              </a:srgbClr>
            </a:solidFill>
            <a:headEnd type="none"/>
            <a:tailEnd type="none"/>
          </a:ln>
        </p:spPr>
        <p:txBody>
          <a:bodyPr wrap="square" lIns="1524" tIns="1524" rIns="1524" bIns="1524" rtlCol="0" anchor="t">
            <a:normAutofit/>
          </a:bodyPr>
          <a:lstStyle/>
          <a:p>
            <a:pPr indent="0" marL="0">
              <a:buNone/>
            </a:pPr>
            <a:r>
              <a:rPr lang="en-US" sz="1200" i="1" dirty="0">
                <a:solidFill>
                  <a:srgbClr val="7B8794"/>
                </a:solidFill>
              </a:rPr>
              <a:t>No cenário da PagoDigital, essa relação acontece porque...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777240" y="4160520"/>
            <a:ext cx="10744200" cy="960120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>
                <a:alpha val="95000"/>
              </a:srgbClr>
            </a:solidFill>
            <a:headEnd type="none"/>
            <a:tailEnd type="none"/>
          </a:ln>
        </p:spPr>
        <p:txBody>
          <a:bodyPr wrap="square" lIns="1524" tIns="1524" rIns="1524" bIns="1524" rtlCol="0" anchor="t">
            <a:normAutofit/>
          </a:bodyPr>
          <a:lstStyle/>
          <a:p>
            <a:pPr indent="0" marL="0">
              <a:buNone/>
            </a:pPr>
            <a:r>
              <a:rPr lang="en-US" sz="1200" i="1" dirty="0">
                <a:solidFill>
                  <a:srgbClr val="7B8794"/>
                </a:solidFill>
              </a:rPr>
              <a:t>Uma ação inicial que a empresa deveria fazer após corrigir a falha é...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777240" y="5440680"/>
            <a:ext cx="10744200" cy="685800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>
                <a:alpha val="95000"/>
              </a:srgbClr>
            </a:solidFill>
            <a:headEnd type="none"/>
            <a:tailEnd type="none"/>
          </a:ln>
        </p:spPr>
        <p:txBody>
          <a:bodyPr wrap="square" lIns="1524" tIns="1524" rIns="1524" bIns="1524" rtlCol="0" anchor="t">
            <a:normAutofit/>
          </a:bodyPr>
          <a:lstStyle/>
          <a:p>
            <a:pPr indent="0" marL="0">
              <a:buNone/>
            </a:pPr>
            <a:r>
              <a:rPr lang="en-US" sz="1200" i="1" dirty="0">
                <a:solidFill>
                  <a:srgbClr val="7B8794"/>
                </a:solidFill>
              </a:rPr>
              <a:t>Principal aprendizagem da Aula 1...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502920" y="6446520"/>
            <a:ext cx="33832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58616D"/>
                </a:solidFill>
              </a:rPr>
              <a:t>Aprender em Ação | Gestão de riscos | 5</a:t>
            </a:r>
            <a:endParaRPr lang="en-US" sz="800" dirty="0"/>
          </a:p>
        </p:txBody>
      </p:sp>
      <p:sp>
        <p:nvSpPr>
          <p:cNvPr id="18" name="Text 16"/>
          <p:cNvSpPr/>
          <p:nvPr/>
        </p:nvSpPr>
        <p:spPr>
          <a:xfrm>
            <a:off x="8321040" y="6446520"/>
            <a:ext cx="33375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58616D"/>
                </a:solidFill>
              </a:rPr>
              <a:t>Preencha os campos no PowerPoint</a:t>
            </a:r>
            <a:endParaRPr lang="en-US" sz="8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7F9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20040"/>
            <a:ext cx="77724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02A4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Aula 2 — Cenário para priorização</a:t>
            </a:r>
            <a:endParaRPr lang="en-US" sz="2400" dirty="0"/>
          </a:p>
        </p:txBody>
      </p:sp>
      <p:sp>
        <p:nvSpPr>
          <p:cNvPr id="3" name="Text 1"/>
          <p:cNvSpPr/>
          <p:nvPr/>
        </p:nvSpPr>
        <p:spPr>
          <a:xfrm>
            <a:off x="502920" y="768096"/>
            <a:ext cx="80467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58616D"/>
                </a:solidFill>
              </a:rPr>
              <a:t>TechVarejo: classifique três riscos por probabilidade e impacto.</a:t>
            </a:r>
            <a:endParaRPr lang="en-US" sz="1050" dirty="0"/>
          </a:p>
        </p:txBody>
      </p:sp>
      <p:sp>
        <p:nvSpPr>
          <p:cNvPr id="4" name="Text 2"/>
          <p:cNvSpPr/>
          <p:nvPr/>
        </p:nvSpPr>
        <p:spPr>
          <a:xfrm>
            <a:off x="9372600" y="320040"/>
            <a:ext cx="2304288" cy="347472"/>
          </a:xfrm>
          <a:prstGeom prst="rect">
            <a:avLst/>
          </a:prstGeom>
          <a:solidFill>
            <a:srgbClr val="102A43"/>
          </a:solidFill>
          <a:ln>
            <a:solidFill>
              <a:srgbClr val="102A43"/>
            </a:solidFill>
          </a:ln>
        </p:spPr>
        <p:txBody>
          <a:bodyPr wrap="square" lIns="508" tIns="508" rIns="508" bIns="508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FFFFFF"/>
                </a:solidFill>
              </a:rPr>
              <a:t>AULA 2</a:t>
            </a:r>
            <a:endParaRPr lang="en-US" sz="1150" dirty="0"/>
          </a:p>
        </p:txBody>
      </p:sp>
      <p:sp>
        <p:nvSpPr>
          <p:cNvPr id="5" name="Shape 3"/>
          <p:cNvSpPr/>
          <p:nvPr/>
        </p:nvSpPr>
        <p:spPr>
          <a:xfrm>
            <a:off x="502920" y="1069848"/>
            <a:ext cx="11155680" cy="0"/>
          </a:xfrm>
          <a:prstGeom prst="line">
            <a:avLst/>
          </a:prstGeom>
          <a:noFill/>
          <a:ln w="12700">
            <a:solidFill>
              <a:srgbClr val="CBD5E1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777240" y="1417320"/>
            <a:ext cx="10652760" cy="941832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/>
            </a:solidFill>
          </a:ln>
        </p:spPr>
        <p:txBody>
          <a:bodyPr wrap="square" lIns="1651" tIns="1651" rIns="1651" bIns="1651" rtlCol="0" anchor="ctr">
            <a:normAutofit/>
          </a:bodyPr>
          <a:lstStyle/>
          <a:p>
            <a:pPr indent="0" marL="0">
              <a:buNone/>
            </a:pPr>
            <a:r>
              <a:rPr lang="en-US" sz="1100" dirty="0">
                <a:solidFill>
                  <a:srgbClr val="1F2937"/>
                </a:solidFill>
              </a:rPr>
              <a:t>Risco 1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1F2937"/>
                </a:solidFill>
              </a:rPr>
              <a:t>Servidor do e-commerce com sistema operacional sem suporte há três anos e vulnerabilidade explorável por ransomware.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777240" y="1417320"/>
            <a:ext cx="73152" cy="941832"/>
          </a:xfrm>
          <a:prstGeom prst="rect">
            <a:avLst/>
          </a:prstGeom>
          <a:solidFill>
            <a:srgbClr val="E63946"/>
          </a:solidFill>
          <a:ln w="12700">
            <a:solidFill>
              <a:srgbClr val="E63946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777240" y="2651760"/>
            <a:ext cx="10652760" cy="941832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/>
            </a:solidFill>
          </a:ln>
        </p:spPr>
        <p:txBody>
          <a:bodyPr wrap="square" lIns="1651" tIns="1651" rIns="1651" bIns="1651" rtlCol="0" anchor="ctr">
            <a:normAutofit/>
          </a:bodyPr>
          <a:lstStyle/>
          <a:p>
            <a:pPr indent="0" marL="0">
              <a:buNone/>
            </a:pPr>
            <a:r>
              <a:rPr lang="en-US" sz="1100" dirty="0">
                <a:solidFill>
                  <a:srgbClr val="1F2937"/>
                </a:solidFill>
              </a:rPr>
              <a:t>Risco 2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1F2937"/>
                </a:solidFill>
              </a:rPr>
              <a:t>Em grandes volumes de venda, o site já apresentou lentidão e pode ficar indisponível se o tráfego dobrar.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777240" y="2651760"/>
            <a:ext cx="73152" cy="941832"/>
          </a:xfrm>
          <a:prstGeom prst="rect">
            <a:avLst/>
          </a:prstGeom>
          <a:solidFill>
            <a:srgbClr val="F2994A"/>
          </a:solidFill>
          <a:ln w="12700">
            <a:solidFill>
              <a:srgbClr val="F2994A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777240" y="3886200"/>
            <a:ext cx="10652760" cy="941832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/>
            </a:solidFill>
          </a:ln>
        </p:spPr>
        <p:txBody>
          <a:bodyPr wrap="square" lIns="1651" tIns="1651" rIns="1651" bIns="1651" rtlCol="0" anchor="ctr">
            <a:normAutofit/>
          </a:bodyPr>
          <a:lstStyle/>
          <a:p>
            <a:pPr indent="0" marL="0">
              <a:buNone/>
            </a:pPr>
            <a:r>
              <a:rPr lang="en-US" sz="1100" dirty="0">
                <a:solidFill>
                  <a:srgbClr val="1F2937"/>
                </a:solidFill>
              </a:rPr>
              <a:t>Risco 3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1F2937"/>
                </a:solidFill>
              </a:rPr>
              <a:t>Funcionário do suporte possui acesso desnecessário a dados de pagamento há mais de dois anos.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777240" y="3886200"/>
            <a:ext cx="73152" cy="941832"/>
          </a:xfrm>
          <a:prstGeom prst="rect">
            <a:avLst/>
          </a:prstGeom>
          <a:solidFill>
            <a:srgbClr val="00A6A6"/>
          </a:solidFill>
          <a:ln w="12700">
            <a:solidFill>
              <a:srgbClr val="00A6A6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777240" y="5349240"/>
            <a:ext cx="10652760" cy="731520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>
                <a:alpha val="95000"/>
              </a:srgbClr>
            </a:solidFill>
            <a:headEnd type="none"/>
            <a:tailEnd type="none"/>
          </a:ln>
        </p:spPr>
        <p:txBody>
          <a:bodyPr wrap="square" lIns="1524" tIns="1524" rIns="1524" bIns="1524" rtlCol="0" anchor="t">
            <a:normAutofit/>
          </a:bodyPr>
          <a:lstStyle/>
          <a:p>
            <a:pPr indent="0" marL="0">
              <a:buNone/>
            </a:pPr>
            <a:r>
              <a:rPr lang="en-US" sz="1200" i="1" dirty="0">
                <a:solidFill>
                  <a:srgbClr val="7B8794"/>
                </a:solidFill>
              </a:rPr>
              <a:t>Antes de classificar, escreva qual risco parece mais urgente e por quê...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502920" y="6446520"/>
            <a:ext cx="33832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58616D"/>
                </a:solidFill>
              </a:rPr>
              <a:t>Aprender em Ação | Gestão de riscos | 6</a:t>
            </a:r>
            <a:endParaRPr lang="en-US" sz="800" dirty="0"/>
          </a:p>
        </p:txBody>
      </p:sp>
      <p:sp>
        <p:nvSpPr>
          <p:cNvPr id="14" name="Text 12"/>
          <p:cNvSpPr/>
          <p:nvPr/>
        </p:nvSpPr>
        <p:spPr>
          <a:xfrm>
            <a:off x="8321040" y="6446520"/>
            <a:ext cx="33375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58616D"/>
                </a:solidFill>
              </a:rPr>
              <a:t>Preencha os campos no PowerPoint</a:t>
            </a:r>
            <a:endParaRPr lang="en-US" sz="8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7F9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20040"/>
            <a:ext cx="77724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02A4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Aula 2 — Tabela de avaliação e priorização</a:t>
            </a:r>
            <a:endParaRPr lang="en-US" sz="2400" dirty="0"/>
          </a:p>
        </p:txBody>
      </p:sp>
      <p:sp>
        <p:nvSpPr>
          <p:cNvPr id="3" name="Text 1"/>
          <p:cNvSpPr/>
          <p:nvPr/>
        </p:nvSpPr>
        <p:spPr>
          <a:xfrm>
            <a:off x="502920" y="768096"/>
            <a:ext cx="80467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58616D"/>
                </a:solidFill>
              </a:rPr>
              <a:t>Classifique cada risco usando baixa, média ou alta. Depois indique a prioridade.</a:t>
            </a:r>
            <a:endParaRPr lang="en-US" sz="1050" dirty="0"/>
          </a:p>
        </p:txBody>
      </p:sp>
      <p:sp>
        <p:nvSpPr>
          <p:cNvPr id="4" name="Text 2"/>
          <p:cNvSpPr/>
          <p:nvPr/>
        </p:nvSpPr>
        <p:spPr>
          <a:xfrm>
            <a:off x="9372600" y="320040"/>
            <a:ext cx="2304288" cy="347472"/>
          </a:xfrm>
          <a:prstGeom prst="rect">
            <a:avLst/>
          </a:prstGeom>
          <a:solidFill>
            <a:srgbClr val="102A43"/>
          </a:solidFill>
          <a:ln>
            <a:solidFill>
              <a:srgbClr val="102A43"/>
            </a:solidFill>
          </a:ln>
        </p:spPr>
        <p:txBody>
          <a:bodyPr wrap="square" lIns="508" tIns="508" rIns="508" bIns="508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FFFFFF"/>
                </a:solidFill>
              </a:rPr>
              <a:t>AULA 2</a:t>
            </a:r>
            <a:endParaRPr lang="en-US" sz="1150" dirty="0"/>
          </a:p>
        </p:txBody>
      </p:sp>
      <p:sp>
        <p:nvSpPr>
          <p:cNvPr id="5" name="Shape 3"/>
          <p:cNvSpPr/>
          <p:nvPr/>
        </p:nvSpPr>
        <p:spPr>
          <a:xfrm>
            <a:off x="502920" y="1069848"/>
            <a:ext cx="11155680" cy="0"/>
          </a:xfrm>
          <a:prstGeom prst="line">
            <a:avLst/>
          </a:prstGeom>
          <a:noFill/>
          <a:ln w="12700">
            <a:solidFill>
              <a:srgbClr val="CBD5E1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02920" y="1298448"/>
            <a:ext cx="1892808" cy="384048"/>
          </a:xfrm>
          <a:prstGeom prst="rect">
            <a:avLst/>
          </a:prstGeom>
          <a:solidFill>
            <a:srgbClr val="102A43"/>
          </a:solidFill>
          <a:ln w="6350">
            <a:solidFill>
              <a:srgbClr val="FFFFFF"/>
            </a:solidFill>
          </a:ln>
        </p:spPr>
        <p:txBody>
          <a:bodyPr wrap="square" lIns="254" tIns="254" rIns="254" bIns="254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Risco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2423160" y="1298448"/>
            <a:ext cx="1481328" cy="384048"/>
          </a:xfrm>
          <a:prstGeom prst="rect">
            <a:avLst/>
          </a:prstGeom>
          <a:solidFill>
            <a:srgbClr val="102A43"/>
          </a:solidFill>
          <a:ln w="6350">
            <a:solidFill>
              <a:srgbClr val="FFFFFF"/>
            </a:solidFill>
          </a:ln>
        </p:spPr>
        <p:txBody>
          <a:bodyPr wrap="square" lIns="254" tIns="254" rIns="254" bIns="254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Probabilidade</a:t>
            </a:r>
            <a:endParaRPr lang="en-US" sz="1000" dirty="0"/>
          </a:p>
        </p:txBody>
      </p:sp>
      <p:sp>
        <p:nvSpPr>
          <p:cNvPr id="8" name="Text 6"/>
          <p:cNvSpPr/>
          <p:nvPr/>
        </p:nvSpPr>
        <p:spPr>
          <a:xfrm>
            <a:off x="3931920" y="1298448"/>
            <a:ext cx="1298448" cy="384048"/>
          </a:xfrm>
          <a:prstGeom prst="rect">
            <a:avLst/>
          </a:prstGeom>
          <a:solidFill>
            <a:srgbClr val="102A43"/>
          </a:solidFill>
          <a:ln w="6350">
            <a:solidFill>
              <a:srgbClr val="FFFFFF"/>
            </a:solidFill>
          </a:ln>
        </p:spPr>
        <p:txBody>
          <a:bodyPr wrap="square" lIns="254" tIns="254" rIns="254" bIns="254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Impacto</a:t>
            </a: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>
            <a:off x="5257800" y="1298448"/>
            <a:ext cx="4544568" cy="384048"/>
          </a:xfrm>
          <a:prstGeom prst="rect">
            <a:avLst/>
          </a:prstGeom>
          <a:solidFill>
            <a:srgbClr val="102A43"/>
          </a:solidFill>
          <a:ln w="6350">
            <a:solidFill>
              <a:srgbClr val="FFFFFF"/>
            </a:solidFill>
          </a:ln>
        </p:spPr>
        <p:txBody>
          <a:bodyPr wrap="square" lIns="254" tIns="254" rIns="254" bIns="254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Evidência do cenário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9829800" y="1298448"/>
            <a:ext cx="1572768" cy="384048"/>
          </a:xfrm>
          <a:prstGeom prst="rect">
            <a:avLst/>
          </a:prstGeom>
          <a:solidFill>
            <a:srgbClr val="102A43"/>
          </a:solidFill>
          <a:ln w="6350">
            <a:solidFill>
              <a:srgbClr val="FFFFFF"/>
            </a:solidFill>
          </a:ln>
        </p:spPr>
        <p:txBody>
          <a:bodyPr wrap="square" lIns="254" tIns="254" rIns="254" bIns="254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Prioridade</a:t>
            </a:r>
            <a:endParaRPr lang="en-US" sz="1000" dirty="0"/>
          </a:p>
        </p:txBody>
      </p:sp>
      <p:sp>
        <p:nvSpPr>
          <p:cNvPr id="11" name="Text 9"/>
          <p:cNvSpPr/>
          <p:nvPr/>
        </p:nvSpPr>
        <p:spPr>
          <a:xfrm>
            <a:off x="502920" y="1682496"/>
            <a:ext cx="1892808" cy="1005840"/>
          </a:xfrm>
          <a:prstGeom prst="rect">
            <a:avLst/>
          </a:prstGeom>
          <a:solidFill>
            <a:srgbClr val="EAF2FF"/>
          </a:solidFill>
          <a:ln w="6350">
            <a:solidFill>
              <a:srgbClr val="FFFFFF"/>
            </a:solidFill>
          </a:ln>
        </p:spPr>
        <p:txBody>
          <a:bodyPr wrap="square" lIns="381" tIns="381" rIns="381" bIns="381" rtlCol="0" anchor="ctr">
            <a:normAutofit/>
          </a:bodyPr>
          <a:lstStyle/>
          <a:p>
            <a:pPr algn="ctr" indent="0" marL="0">
              <a:buNone/>
            </a:pPr>
            <a:r>
              <a:rPr lang="en-US" sz="970" b="1" dirty="0">
                <a:solidFill>
                  <a:srgbClr val="1F2937"/>
                </a:solidFill>
              </a:rPr>
              <a:t>Risco 1</a:t>
            </a:r>
            <a:endParaRPr lang="en-US" sz="970" dirty="0"/>
          </a:p>
          <a:p>
            <a:pPr algn="ctr" indent="0" marL="0">
              <a:buNone/>
            </a:pPr>
            <a:r>
              <a:rPr lang="en-US" sz="970" b="1" dirty="0">
                <a:solidFill>
                  <a:srgbClr val="1F2937"/>
                </a:solidFill>
              </a:rPr>
              <a:t>Sistema desatualizado</a:t>
            </a:r>
            <a:endParaRPr lang="en-US" sz="970" dirty="0"/>
          </a:p>
        </p:txBody>
      </p:sp>
      <p:sp>
        <p:nvSpPr>
          <p:cNvPr id="12" name="Text 10"/>
          <p:cNvSpPr/>
          <p:nvPr/>
        </p:nvSpPr>
        <p:spPr>
          <a:xfrm>
            <a:off x="2423160" y="1682496"/>
            <a:ext cx="1481328" cy="1005840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>
                <a:alpha val="95000"/>
              </a:srgbClr>
            </a:solidFill>
            <a:headEnd type="none"/>
            <a:tailEnd type="none"/>
          </a:ln>
        </p:spPr>
        <p:txBody>
          <a:bodyPr wrap="square" lIns="1524" tIns="1524" rIns="1524" bIns="1524" rtlCol="0" anchor="t">
            <a:normAutofit/>
          </a:bodyPr>
          <a:lstStyle/>
          <a:p>
            <a:pPr indent="0" marL="0">
              <a:buNone/>
            </a:pPr>
            <a:r>
              <a:rPr lang="en-US" sz="930" i="1" dirty="0">
                <a:solidFill>
                  <a:srgbClr val="7B8794"/>
                </a:solidFill>
              </a:rPr>
              <a:t>Baixa / média / alta</a:t>
            </a:r>
            <a:endParaRPr lang="en-US" sz="930" dirty="0"/>
          </a:p>
        </p:txBody>
      </p:sp>
      <p:sp>
        <p:nvSpPr>
          <p:cNvPr id="13" name="Text 11"/>
          <p:cNvSpPr/>
          <p:nvPr/>
        </p:nvSpPr>
        <p:spPr>
          <a:xfrm>
            <a:off x="3931920" y="1682496"/>
            <a:ext cx="1298448" cy="1005840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>
                <a:alpha val="95000"/>
              </a:srgbClr>
            </a:solidFill>
            <a:headEnd type="none"/>
            <a:tailEnd type="none"/>
          </a:ln>
        </p:spPr>
        <p:txBody>
          <a:bodyPr wrap="square" lIns="1524" tIns="1524" rIns="1524" bIns="1524" rtlCol="0" anchor="t">
            <a:normAutofit/>
          </a:bodyPr>
          <a:lstStyle/>
          <a:p>
            <a:pPr indent="0" marL="0">
              <a:buNone/>
            </a:pPr>
            <a:r>
              <a:rPr lang="en-US" sz="930" i="1" dirty="0">
                <a:solidFill>
                  <a:srgbClr val="7B8794"/>
                </a:solidFill>
              </a:rPr>
              <a:t>Baixo / médio / alto</a:t>
            </a:r>
            <a:endParaRPr lang="en-US" sz="930" dirty="0"/>
          </a:p>
        </p:txBody>
      </p:sp>
      <p:sp>
        <p:nvSpPr>
          <p:cNvPr id="14" name="Text 12"/>
          <p:cNvSpPr/>
          <p:nvPr/>
        </p:nvSpPr>
        <p:spPr>
          <a:xfrm>
            <a:off x="5257800" y="1682496"/>
            <a:ext cx="4544568" cy="1005840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>
                <a:alpha val="95000"/>
              </a:srgbClr>
            </a:solidFill>
            <a:headEnd type="none"/>
            <a:tailEnd type="none"/>
          </a:ln>
        </p:spPr>
        <p:txBody>
          <a:bodyPr wrap="square" lIns="1524" tIns="1524" rIns="1524" bIns="1524" rtlCol="0" anchor="t">
            <a:normAutofit/>
          </a:bodyPr>
          <a:lstStyle/>
          <a:p>
            <a:pPr indent="0" marL="0">
              <a:buNone/>
            </a:pPr>
            <a:r>
              <a:rPr lang="en-US" sz="930" i="1" dirty="0">
                <a:solidFill>
                  <a:srgbClr val="7B8794"/>
                </a:solidFill>
              </a:rPr>
              <a:t>Digite a evidência que justifica a classificação...</a:t>
            </a:r>
            <a:endParaRPr lang="en-US" sz="930" dirty="0"/>
          </a:p>
        </p:txBody>
      </p:sp>
      <p:sp>
        <p:nvSpPr>
          <p:cNvPr id="15" name="Text 13"/>
          <p:cNvSpPr/>
          <p:nvPr/>
        </p:nvSpPr>
        <p:spPr>
          <a:xfrm>
            <a:off x="9829800" y="1682496"/>
            <a:ext cx="1572768" cy="1005840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>
                <a:alpha val="95000"/>
              </a:srgbClr>
            </a:solidFill>
            <a:headEnd type="none"/>
            <a:tailEnd type="none"/>
          </a:ln>
        </p:spPr>
        <p:txBody>
          <a:bodyPr wrap="square" lIns="1524" tIns="1524" rIns="1524" bIns="1524" rtlCol="0" anchor="t">
            <a:normAutofit/>
          </a:bodyPr>
          <a:lstStyle/>
          <a:p>
            <a:pPr indent="0" marL="0">
              <a:buNone/>
            </a:pPr>
            <a:r>
              <a:rPr lang="en-US" sz="910" i="1" dirty="0">
                <a:solidFill>
                  <a:srgbClr val="7B8794"/>
                </a:solidFill>
              </a:rPr>
              <a:t>Baixa / moderada / alta / crítica</a:t>
            </a:r>
            <a:endParaRPr lang="en-US" sz="910" dirty="0"/>
          </a:p>
        </p:txBody>
      </p:sp>
      <p:sp>
        <p:nvSpPr>
          <p:cNvPr id="16" name="Text 14"/>
          <p:cNvSpPr/>
          <p:nvPr/>
        </p:nvSpPr>
        <p:spPr>
          <a:xfrm>
            <a:off x="502920" y="2825496"/>
            <a:ext cx="1892808" cy="1005840"/>
          </a:xfrm>
          <a:prstGeom prst="rect">
            <a:avLst/>
          </a:prstGeom>
          <a:solidFill>
            <a:srgbClr val="EAF2FF"/>
          </a:solidFill>
          <a:ln w="6350">
            <a:solidFill>
              <a:srgbClr val="FFFFFF"/>
            </a:solidFill>
          </a:ln>
        </p:spPr>
        <p:txBody>
          <a:bodyPr wrap="square" lIns="381" tIns="381" rIns="381" bIns="381" rtlCol="0" anchor="ctr">
            <a:normAutofit/>
          </a:bodyPr>
          <a:lstStyle/>
          <a:p>
            <a:pPr algn="ctr" indent="0" marL="0">
              <a:buNone/>
            </a:pPr>
            <a:r>
              <a:rPr lang="en-US" sz="970" b="1" dirty="0">
                <a:solidFill>
                  <a:srgbClr val="1F2937"/>
                </a:solidFill>
              </a:rPr>
              <a:t>Risco 2</a:t>
            </a:r>
            <a:endParaRPr lang="en-US" sz="970" dirty="0"/>
          </a:p>
          <a:p>
            <a:pPr algn="ctr" indent="0" marL="0">
              <a:buNone/>
            </a:pPr>
            <a:r>
              <a:rPr lang="en-US" sz="970" b="1" dirty="0">
                <a:solidFill>
                  <a:srgbClr val="1F2937"/>
                </a:solidFill>
              </a:rPr>
              <a:t>Sobrecarga Black Friday</a:t>
            </a:r>
            <a:endParaRPr lang="en-US" sz="970" dirty="0"/>
          </a:p>
        </p:txBody>
      </p:sp>
      <p:sp>
        <p:nvSpPr>
          <p:cNvPr id="17" name="Text 15"/>
          <p:cNvSpPr/>
          <p:nvPr/>
        </p:nvSpPr>
        <p:spPr>
          <a:xfrm>
            <a:off x="2423160" y="2825496"/>
            <a:ext cx="1481328" cy="1005840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>
                <a:alpha val="95000"/>
              </a:srgbClr>
            </a:solidFill>
            <a:headEnd type="none"/>
            <a:tailEnd type="none"/>
          </a:ln>
        </p:spPr>
        <p:txBody>
          <a:bodyPr wrap="square" lIns="1524" tIns="1524" rIns="1524" bIns="1524" rtlCol="0" anchor="t">
            <a:normAutofit/>
          </a:bodyPr>
          <a:lstStyle/>
          <a:p>
            <a:pPr indent="0" marL="0">
              <a:buNone/>
            </a:pPr>
            <a:r>
              <a:rPr lang="en-US" sz="930" i="1" dirty="0">
                <a:solidFill>
                  <a:srgbClr val="7B8794"/>
                </a:solidFill>
              </a:rPr>
              <a:t>Baixa / média / alta</a:t>
            </a:r>
            <a:endParaRPr lang="en-US" sz="930" dirty="0"/>
          </a:p>
        </p:txBody>
      </p:sp>
      <p:sp>
        <p:nvSpPr>
          <p:cNvPr id="18" name="Text 16"/>
          <p:cNvSpPr/>
          <p:nvPr/>
        </p:nvSpPr>
        <p:spPr>
          <a:xfrm>
            <a:off x="3931920" y="2825496"/>
            <a:ext cx="1298448" cy="1005840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>
                <a:alpha val="95000"/>
              </a:srgbClr>
            </a:solidFill>
            <a:headEnd type="none"/>
            <a:tailEnd type="none"/>
          </a:ln>
        </p:spPr>
        <p:txBody>
          <a:bodyPr wrap="square" lIns="1524" tIns="1524" rIns="1524" bIns="1524" rtlCol="0" anchor="t">
            <a:normAutofit/>
          </a:bodyPr>
          <a:lstStyle/>
          <a:p>
            <a:pPr indent="0" marL="0">
              <a:buNone/>
            </a:pPr>
            <a:r>
              <a:rPr lang="en-US" sz="930" i="1" dirty="0">
                <a:solidFill>
                  <a:srgbClr val="7B8794"/>
                </a:solidFill>
              </a:rPr>
              <a:t>Baixo / médio / alto</a:t>
            </a:r>
            <a:endParaRPr lang="en-US" sz="930" dirty="0"/>
          </a:p>
        </p:txBody>
      </p:sp>
      <p:sp>
        <p:nvSpPr>
          <p:cNvPr id="19" name="Text 17"/>
          <p:cNvSpPr/>
          <p:nvPr/>
        </p:nvSpPr>
        <p:spPr>
          <a:xfrm>
            <a:off x="5257800" y="2825496"/>
            <a:ext cx="4544568" cy="1005840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>
                <a:alpha val="95000"/>
              </a:srgbClr>
            </a:solidFill>
            <a:headEnd type="none"/>
            <a:tailEnd type="none"/>
          </a:ln>
        </p:spPr>
        <p:txBody>
          <a:bodyPr wrap="square" lIns="1524" tIns="1524" rIns="1524" bIns="1524" rtlCol="0" anchor="t">
            <a:normAutofit/>
          </a:bodyPr>
          <a:lstStyle/>
          <a:p>
            <a:pPr indent="0" marL="0">
              <a:buNone/>
            </a:pPr>
            <a:r>
              <a:rPr lang="en-US" sz="930" i="1" dirty="0">
                <a:solidFill>
                  <a:srgbClr val="7B8794"/>
                </a:solidFill>
              </a:rPr>
              <a:t>Digite a evidência que justifica a classificação...</a:t>
            </a:r>
            <a:endParaRPr lang="en-US" sz="930" dirty="0"/>
          </a:p>
        </p:txBody>
      </p:sp>
      <p:sp>
        <p:nvSpPr>
          <p:cNvPr id="20" name="Text 18"/>
          <p:cNvSpPr/>
          <p:nvPr/>
        </p:nvSpPr>
        <p:spPr>
          <a:xfrm>
            <a:off x="9829800" y="2825496"/>
            <a:ext cx="1572768" cy="1005840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>
                <a:alpha val="95000"/>
              </a:srgbClr>
            </a:solidFill>
            <a:headEnd type="none"/>
            <a:tailEnd type="none"/>
          </a:ln>
        </p:spPr>
        <p:txBody>
          <a:bodyPr wrap="square" lIns="1524" tIns="1524" rIns="1524" bIns="1524" rtlCol="0" anchor="t">
            <a:normAutofit/>
          </a:bodyPr>
          <a:lstStyle/>
          <a:p>
            <a:pPr indent="0" marL="0">
              <a:buNone/>
            </a:pPr>
            <a:r>
              <a:rPr lang="en-US" sz="910" i="1" dirty="0">
                <a:solidFill>
                  <a:srgbClr val="7B8794"/>
                </a:solidFill>
              </a:rPr>
              <a:t>Baixa / moderada / alta / crítica</a:t>
            </a:r>
            <a:endParaRPr lang="en-US" sz="910" dirty="0"/>
          </a:p>
        </p:txBody>
      </p:sp>
      <p:sp>
        <p:nvSpPr>
          <p:cNvPr id="21" name="Text 19"/>
          <p:cNvSpPr/>
          <p:nvPr/>
        </p:nvSpPr>
        <p:spPr>
          <a:xfrm>
            <a:off x="502920" y="3968496"/>
            <a:ext cx="1892808" cy="1005840"/>
          </a:xfrm>
          <a:prstGeom prst="rect">
            <a:avLst/>
          </a:prstGeom>
          <a:solidFill>
            <a:srgbClr val="EAF2FF"/>
          </a:solidFill>
          <a:ln w="6350">
            <a:solidFill>
              <a:srgbClr val="FFFFFF"/>
            </a:solidFill>
          </a:ln>
        </p:spPr>
        <p:txBody>
          <a:bodyPr wrap="square" lIns="381" tIns="381" rIns="381" bIns="381" rtlCol="0" anchor="ctr">
            <a:normAutofit/>
          </a:bodyPr>
          <a:lstStyle/>
          <a:p>
            <a:pPr algn="ctr" indent="0" marL="0">
              <a:buNone/>
            </a:pPr>
            <a:r>
              <a:rPr lang="en-US" sz="970" b="1" dirty="0">
                <a:solidFill>
                  <a:srgbClr val="1F2937"/>
                </a:solidFill>
              </a:rPr>
              <a:t>Risco 3</a:t>
            </a:r>
            <a:endParaRPr lang="en-US" sz="970" dirty="0"/>
          </a:p>
          <a:p>
            <a:pPr algn="ctr" indent="0" marL="0">
              <a:buNone/>
            </a:pPr>
            <a:r>
              <a:rPr lang="en-US" sz="970" b="1" dirty="0">
                <a:solidFill>
                  <a:srgbClr val="1F2937"/>
                </a:solidFill>
              </a:rPr>
              <a:t>Acesso desnecessário</a:t>
            </a:r>
            <a:endParaRPr lang="en-US" sz="970" dirty="0"/>
          </a:p>
        </p:txBody>
      </p:sp>
      <p:sp>
        <p:nvSpPr>
          <p:cNvPr id="22" name="Text 20"/>
          <p:cNvSpPr/>
          <p:nvPr/>
        </p:nvSpPr>
        <p:spPr>
          <a:xfrm>
            <a:off x="2423160" y="3968496"/>
            <a:ext cx="1481328" cy="1005840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>
                <a:alpha val="95000"/>
              </a:srgbClr>
            </a:solidFill>
            <a:headEnd type="none"/>
            <a:tailEnd type="none"/>
          </a:ln>
        </p:spPr>
        <p:txBody>
          <a:bodyPr wrap="square" lIns="1524" tIns="1524" rIns="1524" bIns="1524" rtlCol="0" anchor="t">
            <a:normAutofit/>
          </a:bodyPr>
          <a:lstStyle/>
          <a:p>
            <a:pPr indent="0" marL="0">
              <a:buNone/>
            </a:pPr>
            <a:r>
              <a:rPr lang="en-US" sz="930" i="1" dirty="0">
                <a:solidFill>
                  <a:srgbClr val="7B8794"/>
                </a:solidFill>
              </a:rPr>
              <a:t>Baixa / média / alta</a:t>
            </a:r>
            <a:endParaRPr lang="en-US" sz="930" dirty="0"/>
          </a:p>
        </p:txBody>
      </p:sp>
      <p:sp>
        <p:nvSpPr>
          <p:cNvPr id="23" name="Text 21"/>
          <p:cNvSpPr/>
          <p:nvPr/>
        </p:nvSpPr>
        <p:spPr>
          <a:xfrm>
            <a:off x="3931920" y="3968496"/>
            <a:ext cx="1298448" cy="1005840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>
                <a:alpha val="95000"/>
              </a:srgbClr>
            </a:solidFill>
            <a:headEnd type="none"/>
            <a:tailEnd type="none"/>
          </a:ln>
        </p:spPr>
        <p:txBody>
          <a:bodyPr wrap="square" lIns="1524" tIns="1524" rIns="1524" bIns="1524" rtlCol="0" anchor="t">
            <a:normAutofit/>
          </a:bodyPr>
          <a:lstStyle/>
          <a:p>
            <a:pPr indent="0" marL="0">
              <a:buNone/>
            </a:pPr>
            <a:r>
              <a:rPr lang="en-US" sz="930" i="1" dirty="0">
                <a:solidFill>
                  <a:srgbClr val="7B8794"/>
                </a:solidFill>
              </a:rPr>
              <a:t>Baixo / médio / alto</a:t>
            </a:r>
            <a:endParaRPr lang="en-US" sz="930" dirty="0"/>
          </a:p>
        </p:txBody>
      </p:sp>
      <p:sp>
        <p:nvSpPr>
          <p:cNvPr id="24" name="Text 22"/>
          <p:cNvSpPr/>
          <p:nvPr/>
        </p:nvSpPr>
        <p:spPr>
          <a:xfrm>
            <a:off x="5257800" y="3968496"/>
            <a:ext cx="4544568" cy="1005840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>
                <a:alpha val="95000"/>
              </a:srgbClr>
            </a:solidFill>
            <a:headEnd type="none"/>
            <a:tailEnd type="none"/>
          </a:ln>
        </p:spPr>
        <p:txBody>
          <a:bodyPr wrap="square" lIns="1524" tIns="1524" rIns="1524" bIns="1524" rtlCol="0" anchor="t">
            <a:normAutofit/>
          </a:bodyPr>
          <a:lstStyle/>
          <a:p>
            <a:pPr indent="0" marL="0">
              <a:buNone/>
            </a:pPr>
            <a:r>
              <a:rPr lang="en-US" sz="930" i="1" dirty="0">
                <a:solidFill>
                  <a:srgbClr val="7B8794"/>
                </a:solidFill>
              </a:rPr>
              <a:t>Digite a evidência que justifica a classificação...</a:t>
            </a:r>
            <a:endParaRPr lang="en-US" sz="930" dirty="0"/>
          </a:p>
        </p:txBody>
      </p:sp>
      <p:sp>
        <p:nvSpPr>
          <p:cNvPr id="25" name="Text 23"/>
          <p:cNvSpPr/>
          <p:nvPr/>
        </p:nvSpPr>
        <p:spPr>
          <a:xfrm>
            <a:off x="9829800" y="3968496"/>
            <a:ext cx="1572768" cy="1005840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>
                <a:alpha val="95000"/>
              </a:srgbClr>
            </a:solidFill>
            <a:headEnd type="none"/>
            <a:tailEnd type="none"/>
          </a:ln>
        </p:spPr>
        <p:txBody>
          <a:bodyPr wrap="square" lIns="1524" tIns="1524" rIns="1524" bIns="1524" rtlCol="0" anchor="t">
            <a:normAutofit/>
          </a:bodyPr>
          <a:lstStyle/>
          <a:p>
            <a:pPr indent="0" marL="0">
              <a:buNone/>
            </a:pPr>
            <a:r>
              <a:rPr lang="en-US" sz="910" i="1" dirty="0">
                <a:solidFill>
                  <a:srgbClr val="7B8794"/>
                </a:solidFill>
              </a:rPr>
              <a:t>Baixa / moderada / alta / crítica</a:t>
            </a:r>
            <a:endParaRPr lang="en-US" sz="910" dirty="0"/>
          </a:p>
        </p:txBody>
      </p:sp>
      <p:sp>
        <p:nvSpPr>
          <p:cNvPr id="26" name="Text 24"/>
          <p:cNvSpPr/>
          <p:nvPr/>
        </p:nvSpPr>
        <p:spPr>
          <a:xfrm>
            <a:off x="502920" y="5285232"/>
            <a:ext cx="10927080" cy="822960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>
                <a:alpha val="95000"/>
              </a:srgbClr>
            </a:solidFill>
            <a:headEnd type="none"/>
            <a:tailEnd type="none"/>
          </a:ln>
        </p:spPr>
        <p:txBody>
          <a:bodyPr wrap="square" lIns="1524" tIns="1524" rIns="1524" bIns="1524" rtlCol="0" anchor="t">
            <a:normAutofit/>
          </a:bodyPr>
          <a:lstStyle/>
          <a:p>
            <a:pPr indent="0" marL="0">
              <a:buNone/>
            </a:pPr>
            <a:r>
              <a:rPr lang="en-US" sz="1100" i="1" dirty="0">
                <a:solidFill>
                  <a:srgbClr val="7B8794"/>
                </a:solidFill>
              </a:rPr>
              <a:t>Qual risco deve ser tratado primeiro? Justifique com base em probabilidade + impacto...</a:t>
            </a:r>
            <a:endParaRPr lang="en-US" sz="1100" dirty="0"/>
          </a:p>
        </p:txBody>
      </p:sp>
      <p:sp>
        <p:nvSpPr>
          <p:cNvPr id="27" name="Text 25"/>
          <p:cNvSpPr/>
          <p:nvPr/>
        </p:nvSpPr>
        <p:spPr>
          <a:xfrm>
            <a:off x="502920" y="6446520"/>
            <a:ext cx="33832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58616D"/>
                </a:solidFill>
              </a:rPr>
              <a:t>Aprender em Ação | Gestão de riscos | 7</a:t>
            </a:r>
            <a:endParaRPr lang="en-US" sz="800" dirty="0"/>
          </a:p>
        </p:txBody>
      </p:sp>
      <p:sp>
        <p:nvSpPr>
          <p:cNvPr id="28" name="Text 26"/>
          <p:cNvSpPr/>
          <p:nvPr/>
        </p:nvSpPr>
        <p:spPr>
          <a:xfrm>
            <a:off x="8321040" y="6446520"/>
            <a:ext cx="33375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58616D"/>
                </a:solidFill>
              </a:rPr>
              <a:t>Preencha os campos no PowerPoint</a:t>
            </a:r>
            <a:endParaRPr lang="en-US" sz="8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7F9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20040"/>
            <a:ext cx="77724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02A4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Aula 2 — Matriz probabilidade x impacto</a:t>
            </a:r>
            <a:endParaRPr lang="en-US" sz="2400" dirty="0"/>
          </a:p>
        </p:txBody>
      </p:sp>
      <p:sp>
        <p:nvSpPr>
          <p:cNvPr id="3" name="Text 1"/>
          <p:cNvSpPr/>
          <p:nvPr/>
        </p:nvSpPr>
        <p:spPr>
          <a:xfrm>
            <a:off x="502920" y="768096"/>
            <a:ext cx="80467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58616D"/>
                </a:solidFill>
              </a:rPr>
              <a:t>Use a matriz para confirmar a prioridade de cada risco.</a:t>
            </a:r>
            <a:endParaRPr lang="en-US" sz="1050" dirty="0"/>
          </a:p>
        </p:txBody>
      </p:sp>
      <p:sp>
        <p:nvSpPr>
          <p:cNvPr id="4" name="Text 2"/>
          <p:cNvSpPr/>
          <p:nvPr/>
        </p:nvSpPr>
        <p:spPr>
          <a:xfrm>
            <a:off x="9372600" y="320040"/>
            <a:ext cx="2304288" cy="347472"/>
          </a:xfrm>
          <a:prstGeom prst="rect">
            <a:avLst/>
          </a:prstGeom>
          <a:solidFill>
            <a:srgbClr val="102A43"/>
          </a:solidFill>
          <a:ln>
            <a:solidFill>
              <a:srgbClr val="102A43"/>
            </a:solidFill>
          </a:ln>
        </p:spPr>
        <p:txBody>
          <a:bodyPr wrap="square" lIns="508" tIns="508" rIns="508" bIns="508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FFFFFF"/>
                </a:solidFill>
              </a:rPr>
              <a:t>AULA 2</a:t>
            </a:r>
            <a:endParaRPr lang="en-US" sz="1150" dirty="0"/>
          </a:p>
        </p:txBody>
      </p:sp>
      <p:sp>
        <p:nvSpPr>
          <p:cNvPr id="5" name="Shape 3"/>
          <p:cNvSpPr/>
          <p:nvPr/>
        </p:nvSpPr>
        <p:spPr>
          <a:xfrm>
            <a:off x="502920" y="1069848"/>
            <a:ext cx="11155680" cy="0"/>
          </a:xfrm>
          <a:prstGeom prst="line">
            <a:avLst/>
          </a:prstGeom>
          <a:noFill/>
          <a:ln w="12700">
            <a:solidFill>
              <a:srgbClr val="CBD5E1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731520" y="1216152"/>
            <a:ext cx="10972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58616D"/>
                </a:solidFill>
              </a:rPr>
              <a:t>Impacto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2167128" y="3739896"/>
            <a:ext cx="1828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58616D"/>
                </a:solidFill>
              </a:rPr>
              <a:t>Probabilidade</a:t>
            </a:r>
            <a:endParaRPr lang="en-US" sz="1000" dirty="0"/>
          </a:p>
        </p:txBody>
      </p:sp>
      <p:sp>
        <p:nvSpPr>
          <p:cNvPr id="8" name="Text 6"/>
          <p:cNvSpPr/>
          <p:nvPr/>
        </p:nvSpPr>
        <p:spPr>
          <a:xfrm>
            <a:off x="301752" y="1664208"/>
            <a:ext cx="4114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58616D"/>
                </a:solidFill>
              </a:rPr>
              <a:t>Alto</a:t>
            </a:r>
            <a:endParaRPr lang="en-US" sz="850" dirty="0"/>
          </a:p>
        </p:txBody>
      </p:sp>
      <p:sp>
        <p:nvSpPr>
          <p:cNvPr id="9" name="Text 7"/>
          <p:cNvSpPr/>
          <p:nvPr/>
        </p:nvSpPr>
        <p:spPr>
          <a:xfrm>
            <a:off x="301752" y="2322576"/>
            <a:ext cx="4114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58616D"/>
                </a:solidFill>
              </a:rPr>
              <a:t>Médio</a:t>
            </a:r>
            <a:endParaRPr lang="en-US" sz="850" dirty="0"/>
          </a:p>
        </p:txBody>
      </p:sp>
      <p:sp>
        <p:nvSpPr>
          <p:cNvPr id="10" name="Text 8"/>
          <p:cNvSpPr/>
          <p:nvPr/>
        </p:nvSpPr>
        <p:spPr>
          <a:xfrm>
            <a:off x="301752" y="2980944"/>
            <a:ext cx="4114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58616D"/>
                </a:solidFill>
              </a:rPr>
              <a:t>Baixo</a:t>
            </a:r>
            <a:endParaRPr lang="en-US" sz="850" dirty="0"/>
          </a:p>
        </p:txBody>
      </p:sp>
      <p:sp>
        <p:nvSpPr>
          <p:cNvPr id="11" name="Text 9"/>
          <p:cNvSpPr/>
          <p:nvPr/>
        </p:nvSpPr>
        <p:spPr>
          <a:xfrm>
            <a:off x="868680" y="3502152"/>
            <a:ext cx="129844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58616D"/>
                </a:solidFill>
              </a:rPr>
              <a:t>Baixa</a:t>
            </a:r>
            <a:endParaRPr lang="en-US" sz="850" dirty="0"/>
          </a:p>
        </p:txBody>
      </p:sp>
      <p:sp>
        <p:nvSpPr>
          <p:cNvPr id="12" name="Text 10"/>
          <p:cNvSpPr/>
          <p:nvPr/>
        </p:nvSpPr>
        <p:spPr>
          <a:xfrm>
            <a:off x="2167128" y="3502152"/>
            <a:ext cx="129844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58616D"/>
                </a:solidFill>
              </a:rPr>
              <a:t>Média</a:t>
            </a:r>
            <a:endParaRPr lang="en-US" sz="850" dirty="0"/>
          </a:p>
        </p:txBody>
      </p:sp>
      <p:sp>
        <p:nvSpPr>
          <p:cNvPr id="13" name="Text 11"/>
          <p:cNvSpPr/>
          <p:nvPr/>
        </p:nvSpPr>
        <p:spPr>
          <a:xfrm>
            <a:off x="3465576" y="3502152"/>
            <a:ext cx="129844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58616D"/>
                </a:solidFill>
              </a:rPr>
              <a:t>Alta</a:t>
            </a:r>
            <a:endParaRPr lang="en-US" sz="850" dirty="0"/>
          </a:p>
        </p:txBody>
      </p:sp>
      <p:sp>
        <p:nvSpPr>
          <p:cNvPr id="14" name="Text 12"/>
          <p:cNvSpPr/>
          <p:nvPr/>
        </p:nvSpPr>
        <p:spPr>
          <a:xfrm>
            <a:off x="868680" y="1508760"/>
            <a:ext cx="1298448" cy="658368"/>
          </a:xfrm>
          <a:prstGeom prst="rect">
            <a:avLst/>
          </a:prstGeom>
          <a:solidFill>
            <a:srgbClr val="FFE1B8"/>
          </a:solidFill>
          <a:ln w="12700">
            <a:solidFill>
              <a:srgbClr val="FFFFFF"/>
            </a:solidFill>
          </a:ln>
        </p:spPr>
        <p:txBody>
          <a:bodyPr wrap="square" lIns="254" tIns="254" rIns="254" bIns="254" rtlCol="0" anchor="ctr"/>
          <a:lstStyle/>
          <a:p>
            <a:pPr algn="ctr" indent="0" marL="0">
              <a:buNone/>
            </a:pPr>
            <a:r>
              <a:rPr lang="en-US" sz="920" b="1" dirty="0">
                <a:solidFill>
                  <a:srgbClr val="1F2937"/>
                </a:solidFill>
              </a:rPr>
              <a:t>Alta</a:t>
            </a:r>
            <a:endParaRPr lang="en-US" sz="920" dirty="0"/>
          </a:p>
        </p:txBody>
      </p:sp>
      <p:sp>
        <p:nvSpPr>
          <p:cNvPr id="15" name="Text 13"/>
          <p:cNvSpPr/>
          <p:nvPr/>
        </p:nvSpPr>
        <p:spPr>
          <a:xfrm>
            <a:off x="2167128" y="1508760"/>
            <a:ext cx="1298448" cy="658368"/>
          </a:xfrm>
          <a:prstGeom prst="rect">
            <a:avLst/>
          </a:prstGeom>
          <a:solidFill>
            <a:srgbClr val="FFE1B8"/>
          </a:solidFill>
          <a:ln w="12700">
            <a:solidFill>
              <a:srgbClr val="FFFFFF"/>
            </a:solidFill>
          </a:ln>
        </p:spPr>
        <p:txBody>
          <a:bodyPr wrap="square" lIns="254" tIns="254" rIns="254" bIns="254" rtlCol="0" anchor="ctr"/>
          <a:lstStyle/>
          <a:p>
            <a:pPr algn="ctr" indent="0" marL="0">
              <a:buNone/>
            </a:pPr>
            <a:r>
              <a:rPr lang="en-US" sz="920" b="1" dirty="0">
                <a:solidFill>
                  <a:srgbClr val="1F2937"/>
                </a:solidFill>
              </a:rPr>
              <a:t>Alta</a:t>
            </a:r>
            <a:endParaRPr lang="en-US" sz="920" dirty="0"/>
          </a:p>
        </p:txBody>
      </p:sp>
      <p:sp>
        <p:nvSpPr>
          <p:cNvPr id="16" name="Text 14"/>
          <p:cNvSpPr/>
          <p:nvPr/>
        </p:nvSpPr>
        <p:spPr>
          <a:xfrm>
            <a:off x="3465576" y="1508760"/>
            <a:ext cx="1298448" cy="658368"/>
          </a:xfrm>
          <a:prstGeom prst="rect">
            <a:avLst/>
          </a:prstGeom>
          <a:solidFill>
            <a:srgbClr val="FFD6D9"/>
          </a:solidFill>
          <a:ln w="12700">
            <a:solidFill>
              <a:srgbClr val="FFFFFF"/>
            </a:solidFill>
          </a:ln>
        </p:spPr>
        <p:txBody>
          <a:bodyPr wrap="square" lIns="254" tIns="254" rIns="254" bIns="254" rtlCol="0" anchor="ctr"/>
          <a:lstStyle/>
          <a:p>
            <a:pPr algn="ctr" indent="0" marL="0">
              <a:buNone/>
            </a:pPr>
            <a:r>
              <a:rPr lang="en-US" sz="920" b="1" dirty="0">
                <a:solidFill>
                  <a:srgbClr val="1F2937"/>
                </a:solidFill>
              </a:rPr>
              <a:t>Crítica</a:t>
            </a:r>
            <a:endParaRPr lang="en-US" sz="920" dirty="0"/>
          </a:p>
        </p:txBody>
      </p:sp>
      <p:sp>
        <p:nvSpPr>
          <p:cNvPr id="17" name="Text 15"/>
          <p:cNvSpPr/>
          <p:nvPr/>
        </p:nvSpPr>
        <p:spPr>
          <a:xfrm>
            <a:off x="868680" y="2167128"/>
            <a:ext cx="1298448" cy="658368"/>
          </a:xfrm>
          <a:prstGeom prst="rect">
            <a:avLst/>
          </a:prstGeom>
          <a:solidFill>
            <a:srgbClr val="FFF5CC"/>
          </a:solidFill>
          <a:ln w="12700">
            <a:solidFill>
              <a:srgbClr val="FFFFFF"/>
            </a:solidFill>
          </a:ln>
        </p:spPr>
        <p:txBody>
          <a:bodyPr wrap="square" lIns="254" tIns="254" rIns="254" bIns="254" rtlCol="0" anchor="ctr"/>
          <a:lstStyle/>
          <a:p>
            <a:pPr algn="ctr" indent="0" marL="0">
              <a:buNone/>
            </a:pPr>
            <a:r>
              <a:rPr lang="en-US" sz="920" b="1" dirty="0">
                <a:solidFill>
                  <a:srgbClr val="1F2937"/>
                </a:solidFill>
              </a:rPr>
              <a:t>Moderada</a:t>
            </a:r>
            <a:endParaRPr lang="en-US" sz="920" dirty="0"/>
          </a:p>
        </p:txBody>
      </p:sp>
      <p:sp>
        <p:nvSpPr>
          <p:cNvPr id="18" name="Text 16"/>
          <p:cNvSpPr/>
          <p:nvPr/>
        </p:nvSpPr>
        <p:spPr>
          <a:xfrm>
            <a:off x="2167128" y="2167128"/>
            <a:ext cx="1298448" cy="658368"/>
          </a:xfrm>
          <a:prstGeom prst="rect">
            <a:avLst/>
          </a:prstGeom>
          <a:solidFill>
            <a:srgbClr val="FFE1B8"/>
          </a:solidFill>
          <a:ln w="12700">
            <a:solidFill>
              <a:srgbClr val="FFFFFF"/>
            </a:solidFill>
          </a:ln>
        </p:spPr>
        <p:txBody>
          <a:bodyPr wrap="square" lIns="254" tIns="254" rIns="254" bIns="254" rtlCol="0" anchor="ctr"/>
          <a:lstStyle/>
          <a:p>
            <a:pPr algn="ctr" indent="0" marL="0">
              <a:buNone/>
            </a:pPr>
            <a:r>
              <a:rPr lang="en-US" sz="920" b="1" dirty="0">
                <a:solidFill>
                  <a:srgbClr val="1F2937"/>
                </a:solidFill>
              </a:rPr>
              <a:t>Alta</a:t>
            </a:r>
            <a:endParaRPr lang="en-US" sz="920" dirty="0"/>
          </a:p>
        </p:txBody>
      </p:sp>
      <p:sp>
        <p:nvSpPr>
          <p:cNvPr id="19" name="Text 17"/>
          <p:cNvSpPr/>
          <p:nvPr/>
        </p:nvSpPr>
        <p:spPr>
          <a:xfrm>
            <a:off x="3465576" y="2167128"/>
            <a:ext cx="1298448" cy="658368"/>
          </a:xfrm>
          <a:prstGeom prst="rect">
            <a:avLst/>
          </a:prstGeom>
          <a:solidFill>
            <a:srgbClr val="FFE1B8"/>
          </a:solidFill>
          <a:ln w="12700">
            <a:solidFill>
              <a:srgbClr val="FFFFFF"/>
            </a:solidFill>
          </a:ln>
        </p:spPr>
        <p:txBody>
          <a:bodyPr wrap="square" lIns="254" tIns="254" rIns="254" bIns="254" rtlCol="0" anchor="ctr"/>
          <a:lstStyle/>
          <a:p>
            <a:pPr algn="ctr" indent="0" marL="0">
              <a:buNone/>
            </a:pPr>
            <a:r>
              <a:rPr lang="en-US" sz="920" b="1" dirty="0">
                <a:solidFill>
                  <a:srgbClr val="1F2937"/>
                </a:solidFill>
              </a:rPr>
              <a:t>Alta</a:t>
            </a:r>
            <a:endParaRPr lang="en-US" sz="920" dirty="0"/>
          </a:p>
        </p:txBody>
      </p:sp>
      <p:sp>
        <p:nvSpPr>
          <p:cNvPr id="20" name="Text 18"/>
          <p:cNvSpPr/>
          <p:nvPr/>
        </p:nvSpPr>
        <p:spPr>
          <a:xfrm>
            <a:off x="868680" y="2825496"/>
            <a:ext cx="1298448" cy="658368"/>
          </a:xfrm>
          <a:prstGeom prst="rect">
            <a:avLst/>
          </a:prstGeom>
          <a:solidFill>
            <a:srgbClr val="D9F2E6"/>
          </a:solidFill>
          <a:ln w="12700">
            <a:solidFill>
              <a:srgbClr val="FFFFFF"/>
            </a:solidFill>
          </a:ln>
        </p:spPr>
        <p:txBody>
          <a:bodyPr wrap="square" lIns="254" tIns="254" rIns="254" bIns="254" rtlCol="0" anchor="ctr"/>
          <a:lstStyle/>
          <a:p>
            <a:pPr algn="ctr" indent="0" marL="0">
              <a:buNone/>
            </a:pPr>
            <a:r>
              <a:rPr lang="en-US" sz="920" b="1" dirty="0">
                <a:solidFill>
                  <a:srgbClr val="1F2937"/>
                </a:solidFill>
              </a:rPr>
              <a:t>Baixa</a:t>
            </a:r>
            <a:endParaRPr lang="en-US" sz="920" dirty="0"/>
          </a:p>
        </p:txBody>
      </p:sp>
      <p:sp>
        <p:nvSpPr>
          <p:cNvPr id="21" name="Text 19"/>
          <p:cNvSpPr/>
          <p:nvPr/>
        </p:nvSpPr>
        <p:spPr>
          <a:xfrm>
            <a:off x="2167128" y="2825496"/>
            <a:ext cx="1298448" cy="658368"/>
          </a:xfrm>
          <a:prstGeom prst="rect">
            <a:avLst/>
          </a:prstGeom>
          <a:solidFill>
            <a:srgbClr val="FFF5CC"/>
          </a:solidFill>
          <a:ln w="12700">
            <a:solidFill>
              <a:srgbClr val="FFFFFF"/>
            </a:solidFill>
          </a:ln>
        </p:spPr>
        <p:txBody>
          <a:bodyPr wrap="square" lIns="254" tIns="254" rIns="254" bIns="254" rtlCol="0" anchor="ctr"/>
          <a:lstStyle/>
          <a:p>
            <a:pPr algn="ctr" indent="0" marL="0">
              <a:buNone/>
            </a:pPr>
            <a:r>
              <a:rPr lang="en-US" sz="920" b="1" dirty="0">
                <a:solidFill>
                  <a:srgbClr val="1F2937"/>
                </a:solidFill>
              </a:rPr>
              <a:t>Moderada</a:t>
            </a:r>
            <a:endParaRPr lang="en-US" sz="920" dirty="0"/>
          </a:p>
        </p:txBody>
      </p:sp>
      <p:sp>
        <p:nvSpPr>
          <p:cNvPr id="22" name="Text 20"/>
          <p:cNvSpPr/>
          <p:nvPr/>
        </p:nvSpPr>
        <p:spPr>
          <a:xfrm>
            <a:off x="3465576" y="2825496"/>
            <a:ext cx="1298448" cy="658368"/>
          </a:xfrm>
          <a:prstGeom prst="rect">
            <a:avLst/>
          </a:prstGeom>
          <a:solidFill>
            <a:srgbClr val="FFE1B8"/>
          </a:solidFill>
          <a:ln w="12700">
            <a:solidFill>
              <a:srgbClr val="FFFFFF"/>
            </a:solidFill>
          </a:ln>
        </p:spPr>
        <p:txBody>
          <a:bodyPr wrap="square" lIns="254" tIns="254" rIns="254" bIns="254" rtlCol="0" anchor="ctr"/>
          <a:lstStyle/>
          <a:p>
            <a:pPr algn="ctr" indent="0" marL="0">
              <a:buNone/>
            </a:pPr>
            <a:r>
              <a:rPr lang="en-US" sz="920" b="1" dirty="0">
                <a:solidFill>
                  <a:srgbClr val="1F2937"/>
                </a:solidFill>
              </a:rPr>
              <a:t>Alta</a:t>
            </a:r>
            <a:endParaRPr lang="en-US" sz="920" dirty="0"/>
          </a:p>
        </p:txBody>
      </p:sp>
      <p:sp>
        <p:nvSpPr>
          <p:cNvPr id="23" name="Text 21"/>
          <p:cNvSpPr/>
          <p:nvPr/>
        </p:nvSpPr>
        <p:spPr>
          <a:xfrm>
            <a:off x="5120640" y="1371600"/>
            <a:ext cx="37490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02A43"/>
                </a:solidFill>
              </a:rPr>
              <a:t>Posicione os riscos na matriz</a:t>
            </a:r>
            <a:endParaRPr lang="en-US" sz="1800" dirty="0"/>
          </a:p>
        </p:txBody>
      </p:sp>
      <p:sp>
        <p:nvSpPr>
          <p:cNvPr id="24" name="Text 22"/>
          <p:cNvSpPr/>
          <p:nvPr/>
        </p:nvSpPr>
        <p:spPr>
          <a:xfrm>
            <a:off x="5120640" y="1874520"/>
            <a:ext cx="6263640" cy="749808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>
                <a:alpha val="95000"/>
              </a:srgbClr>
            </a:solidFill>
            <a:headEnd type="none"/>
            <a:tailEnd type="none"/>
          </a:ln>
        </p:spPr>
        <p:txBody>
          <a:bodyPr wrap="square" lIns="1524" tIns="1524" rIns="1524" bIns="1524" rtlCol="0" anchor="t">
            <a:normAutofit/>
          </a:bodyPr>
          <a:lstStyle/>
          <a:p>
            <a:pPr indent="0" marL="0">
              <a:buNone/>
            </a:pPr>
            <a:r>
              <a:rPr lang="en-US" sz="1200" i="1" dirty="0">
                <a:solidFill>
                  <a:srgbClr val="7B8794"/>
                </a:solidFill>
              </a:rPr>
              <a:t>Risco 1: posição na matriz + motivo...</a:t>
            </a:r>
            <a:endParaRPr lang="en-US" sz="1200" dirty="0"/>
          </a:p>
        </p:txBody>
      </p:sp>
      <p:sp>
        <p:nvSpPr>
          <p:cNvPr id="25" name="Text 23"/>
          <p:cNvSpPr/>
          <p:nvPr/>
        </p:nvSpPr>
        <p:spPr>
          <a:xfrm>
            <a:off x="5120640" y="2852928"/>
            <a:ext cx="6263640" cy="749808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>
                <a:alpha val="95000"/>
              </a:srgbClr>
            </a:solidFill>
            <a:headEnd type="none"/>
            <a:tailEnd type="none"/>
          </a:ln>
        </p:spPr>
        <p:txBody>
          <a:bodyPr wrap="square" lIns="1524" tIns="1524" rIns="1524" bIns="1524" rtlCol="0" anchor="t">
            <a:normAutofit/>
          </a:bodyPr>
          <a:lstStyle/>
          <a:p>
            <a:pPr indent="0" marL="0">
              <a:buNone/>
            </a:pPr>
            <a:r>
              <a:rPr lang="en-US" sz="1200" i="1" dirty="0">
                <a:solidFill>
                  <a:srgbClr val="7B8794"/>
                </a:solidFill>
              </a:rPr>
              <a:t>Risco 2: posição na matriz + motivo...</a:t>
            </a:r>
            <a:endParaRPr lang="en-US" sz="1200" dirty="0"/>
          </a:p>
        </p:txBody>
      </p:sp>
      <p:sp>
        <p:nvSpPr>
          <p:cNvPr id="26" name="Text 24"/>
          <p:cNvSpPr/>
          <p:nvPr/>
        </p:nvSpPr>
        <p:spPr>
          <a:xfrm>
            <a:off x="5120640" y="3831336"/>
            <a:ext cx="6263640" cy="749808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>
                <a:alpha val="95000"/>
              </a:srgbClr>
            </a:solidFill>
            <a:headEnd type="none"/>
            <a:tailEnd type="none"/>
          </a:ln>
        </p:spPr>
        <p:txBody>
          <a:bodyPr wrap="square" lIns="1524" tIns="1524" rIns="1524" bIns="1524" rtlCol="0" anchor="t">
            <a:normAutofit/>
          </a:bodyPr>
          <a:lstStyle/>
          <a:p>
            <a:pPr indent="0" marL="0">
              <a:buNone/>
            </a:pPr>
            <a:r>
              <a:rPr lang="en-US" sz="1200" i="1" dirty="0">
                <a:solidFill>
                  <a:srgbClr val="7B8794"/>
                </a:solidFill>
              </a:rPr>
              <a:t>Risco 3: posição na matriz + motivo...</a:t>
            </a:r>
            <a:endParaRPr lang="en-US" sz="1200" dirty="0"/>
          </a:p>
        </p:txBody>
      </p:sp>
      <p:sp>
        <p:nvSpPr>
          <p:cNvPr id="27" name="Text 25"/>
          <p:cNvSpPr/>
          <p:nvPr/>
        </p:nvSpPr>
        <p:spPr>
          <a:xfrm>
            <a:off x="868680" y="5166360"/>
            <a:ext cx="10515600" cy="868680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>
                <a:alpha val="95000"/>
              </a:srgbClr>
            </a:solidFill>
            <a:headEnd type="none"/>
            <a:tailEnd type="none"/>
          </a:ln>
        </p:spPr>
        <p:txBody>
          <a:bodyPr wrap="square" lIns="1524" tIns="1524" rIns="1524" bIns="1524" rtlCol="0" anchor="t">
            <a:normAutofit/>
          </a:bodyPr>
          <a:lstStyle/>
          <a:p>
            <a:pPr indent="0" marL="0">
              <a:buNone/>
            </a:pPr>
            <a:r>
              <a:rPr lang="en-US" sz="1200" i="1" dirty="0">
                <a:solidFill>
                  <a:srgbClr val="7B8794"/>
                </a:solidFill>
              </a:rPr>
              <a:t>Conclusão: a matriz ajuda porque...</a:t>
            </a:r>
            <a:endParaRPr lang="en-US" sz="1200" dirty="0"/>
          </a:p>
        </p:txBody>
      </p:sp>
      <p:sp>
        <p:nvSpPr>
          <p:cNvPr id="28" name="Text 26"/>
          <p:cNvSpPr/>
          <p:nvPr/>
        </p:nvSpPr>
        <p:spPr>
          <a:xfrm>
            <a:off x="502920" y="6446520"/>
            <a:ext cx="33832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58616D"/>
                </a:solidFill>
              </a:rPr>
              <a:t>Aprender em Ação | Gestão de riscos | 8</a:t>
            </a:r>
            <a:endParaRPr lang="en-US" sz="800" dirty="0"/>
          </a:p>
        </p:txBody>
      </p:sp>
      <p:sp>
        <p:nvSpPr>
          <p:cNvPr id="29" name="Text 27"/>
          <p:cNvSpPr/>
          <p:nvPr/>
        </p:nvSpPr>
        <p:spPr>
          <a:xfrm>
            <a:off x="8321040" y="6446520"/>
            <a:ext cx="33375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58616D"/>
                </a:solidFill>
              </a:rPr>
              <a:t>Preencha os campos no PowerPoint</a:t>
            </a:r>
            <a:endParaRPr lang="en-US" sz="8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7F9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20040"/>
            <a:ext cx="77724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02A4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Aula 2 — Decisão baseada em evidências</a:t>
            </a:r>
            <a:endParaRPr lang="en-US" sz="2400" dirty="0"/>
          </a:p>
        </p:txBody>
      </p:sp>
      <p:sp>
        <p:nvSpPr>
          <p:cNvPr id="3" name="Text 1"/>
          <p:cNvSpPr/>
          <p:nvPr/>
        </p:nvSpPr>
        <p:spPr>
          <a:xfrm>
            <a:off x="502920" y="768096"/>
            <a:ext cx="80467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58616D"/>
                </a:solidFill>
              </a:rPr>
              <a:t>Não basta dizer “acho grave”: a decisão precisa ser justificada.</a:t>
            </a:r>
            <a:endParaRPr lang="en-US" sz="1050" dirty="0"/>
          </a:p>
        </p:txBody>
      </p:sp>
      <p:sp>
        <p:nvSpPr>
          <p:cNvPr id="4" name="Text 2"/>
          <p:cNvSpPr/>
          <p:nvPr/>
        </p:nvSpPr>
        <p:spPr>
          <a:xfrm>
            <a:off x="9372600" y="320040"/>
            <a:ext cx="2304288" cy="347472"/>
          </a:xfrm>
          <a:prstGeom prst="rect">
            <a:avLst/>
          </a:prstGeom>
          <a:solidFill>
            <a:srgbClr val="102A43"/>
          </a:solidFill>
          <a:ln>
            <a:solidFill>
              <a:srgbClr val="102A43"/>
            </a:solidFill>
          </a:ln>
        </p:spPr>
        <p:txBody>
          <a:bodyPr wrap="square" lIns="508" tIns="508" rIns="508" bIns="508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FFFFFF"/>
                </a:solidFill>
              </a:rPr>
              <a:t>AULA 2</a:t>
            </a:r>
            <a:endParaRPr lang="en-US" sz="1150" dirty="0"/>
          </a:p>
        </p:txBody>
      </p:sp>
      <p:sp>
        <p:nvSpPr>
          <p:cNvPr id="5" name="Shape 3"/>
          <p:cNvSpPr/>
          <p:nvPr/>
        </p:nvSpPr>
        <p:spPr>
          <a:xfrm>
            <a:off x="502920" y="1069848"/>
            <a:ext cx="11155680" cy="0"/>
          </a:xfrm>
          <a:prstGeom prst="line">
            <a:avLst/>
          </a:prstGeom>
          <a:noFill/>
          <a:ln w="12700">
            <a:solidFill>
              <a:srgbClr val="CBD5E1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685800" y="1417320"/>
            <a:ext cx="5120640" cy="731520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>
                <a:alpha val="95000"/>
              </a:srgbClr>
            </a:solidFill>
            <a:headEnd type="none"/>
            <a:tailEnd type="none"/>
          </a:ln>
        </p:spPr>
        <p:txBody>
          <a:bodyPr wrap="square" lIns="1524" tIns="1524" rIns="1524" bIns="1524" rtlCol="0" anchor="t">
            <a:normAutofit/>
          </a:bodyPr>
          <a:lstStyle/>
          <a:p>
            <a:pPr indent="0" marL="0">
              <a:buNone/>
            </a:pPr>
            <a:r>
              <a:rPr lang="en-US" sz="1300" i="1" dirty="0">
                <a:solidFill>
                  <a:srgbClr val="7B8794"/>
                </a:solidFill>
              </a:rPr>
              <a:t>Risco escolhido como prioridade...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6080760" y="1417320"/>
            <a:ext cx="5349240" cy="731520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>
                <a:alpha val="95000"/>
              </a:srgbClr>
            </a:solidFill>
            <a:headEnd type="none"/>
            <a:tailEnd type="none"/>
          </a:ln>
        </p:spPr>
        <p:txBody>
          <a:bodyPr wrap="square" lIns="1524" tIns="1524" rIns="1524" bIns="1524" rtlCol="0" anchor="t">
            <a:normAutofit/>
          </a:bodyPr>
          <a:lstStyle/>
          <a:p>
            <a:pPr indent="0" marL="0">
              <a:buNone/>
            </a:pPr>
            <a:r>
              <a:rPr lang="en-US" sz="1300" i="1" dirty="0">
                <a:solidFill>
                  <a:srgbClr val="7B8794"/>
                </a:solidFill>
              </a:rPr>
              <a:t>Probabilidade escolhida e evidência...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685800" y="2514600"/>
            <a:ext cx="5120640" cy="731520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>
                <a:alpha val="95000"/>
              </a:srgbClr>
            </a:solidFill>
            <a:headEnd type="none"/>
            <a:tailEnd type="none"/>
          </a:ln>
        </p:spPr>
        <p:txBody>
          <a:bodyPr wrap="square" lIns="1524" tIns="1524" rIns="1524" bIns="1524" rtlCol="0" anchor="t">
            <a:normAutofit/>
          </a:bodyPr>
          <a:lstStyle/>
          <a:p>
            <a:pPr indent="0" marL="0">
              <a:buNone/>
            </a:pPr>
            <a:r>
              <a:rPr lang="en-US" sz="1300" i="1" dirty="0">
                <a:solidFill>
                  <a:srgbClr val="7B8794"/>
                </a:solidFill>
              </a:rPr>
              <a:t>Impacto escolhido e evidência...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6080760" y="2514600"/>
            <a:ext cx="5349240" cy="731520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>
                <a:alpha val="95000"/>
              </a:srgbClr>
            </a:solidFill>
            <a:headEnd type="none"/>
            <a:tailEnd type="none"/>
          </a:ln>
        </p:spPr>
        <p:txBody>
          <a:bodyPr wrap="square" lIns="1524" tIns="1524" rIns="1524" bIns="1524" rtlCol="0" anchor="t">
            <a:normAutofit/>
          </a:bodyPr>
          <a:lstStyle/>
          <a:p>
            <a:pPr indent="0" marL="0">
              <a:buNone/>
            </a:pPr>
            <a:r>
              <a:rPr lang="en-US" sz="1300" i="1" dirty="0">
                <a:solidFill>
                  <a:srgbClr val="7B8794"/>
                </a:solidFill>
              </a:rPr>
              <a:t>Por que os outros riscos ficaram depois?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685800" y="3703320"/>
            <a:ext cx="10744200" cy="1691640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>
                <a:alpha val="95000"/>
              </a:srgbClr>
            </a:solidFill>
            <a:headEnd type="none"/>
            <a:tailEnd type="none"/>
          </a:ln>
        </p:spPr>
        <p:txBody>
          <a:bodyPr wrap="square" lIns="1524" tIns="1524" rIns="1524" bIns="1524" rtlCol="0" anchor="t">
            <a:normAutofit/>
          </a:bodyPr>
          <a:lstStyle/>
          <a:p>
            <a:pPr indent="0" marL="0">
              <a:buNone/>
            </a:pPr>
            <a:r>
              <a:rPr lang="en-US" sz="1300" i="1" dirty="0">
                <a:solidFill>
                  <a:srgbClr val="7B8794"/>
                </a:solidFill>
              </a:rPr>
              <a:t>Escreva a justificativa final em 3 a 5 linhas...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685800" y="5623560"/>
            <a:ext cx="10744200" cy="566928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>
                <a:alpha val="95000"/>
              </a:srgbClr>
            </a:solidFill>
            <a:headEnd type="none"/>
            <a:tailEnd type="none"/>
          </a:ln>
        </p:spPr>
        <p:txBody>
          <a:bodyPr wrap="square" lIns="1524" tIns="1524" rIns="1524" bIns="1524" rtlCol="0" anchor="t">
            <a:normAutofit/>
          </a:bodyPr>
          <a:lstStyle/>
          <a:p>
            <a:pPr indent="0" marL="0">
              <a:buNone/>
            </a:pPr>
            <a:r>
              <a:rPr lang="en-US" sz="1200" i="1" dirty="0">
                <a:solidFill>
                  <a:srgbClr val="7B8794"/>
                </a:solidFill>
              </a:rPr>
              <a:t>Principal aprendizagem da Aula 2...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502920" y="6446520"/>
            <a:ext cx="33832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58616D"/>
                </a:solidFill>
              </a:rPr>
              <a:t>Aprender em Ação | Gestão de riscos | 9</a:t>
            </a:r>
            <a:endParaRPr lang="en-US" sz="800" dirty="0"/>
          </a:p>
        </p:txBody>
      </p:sp>
      <p:sp>
        <p:nvSpPr>
          <p:cNvPr id="13" name="Text 11"/>
          <p:cNvSpPr/>
          <p:nvPr/>
        </p:nvSpPr>
        <p:spPr>
          <a:xfrm>
            <a:off x="8321040" y="6446520"/>
            <a:ext cx="33375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58616D"/>
                </a:solidFill>
              </a:rPr>
              <a:t>Preencha os campos no PowerPoint</a:t>
            </a:r>
            <a:endParaRPr lang="en-US" sz="8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7F9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20040"/>
            <a:ext cx="77724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02A4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Aula 3 — Escolha da estratégia de tratamento</a:t>
            </a:r>
            <a:endParaRPr lang="en-US" sz="2400" dirty="0"/>
          </a:p>
        </p:txBody>
      </p:sp>
      <p:sp>
        <p:nvSpPr>
          <p:cNvPr id="3" name="Text 1"/>
          <p:cNvSpPr/>
          <p:nvPr/>
        </p:nvSpPr>
        <p:spPr>
          <a:xfrm>
            <a:off x="502920" y="768096"/>
            <a:ext cx="80467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58616D"/>
                </a:solidFill>
              </a:rPr>
              <a:t>Depois de priorizar, a organização decide como tratar o risco.</a:t>
            </a:r>
            <a:endParaRPr lang="en-US" sz="1050" dirty="0"/>
          </a:p>
        </p:txBody>
      </p:sp>
      <p:sp>
        <p:nvSpPr>
          <p:cNvPr id="4" name="Text 2"/>
          <p:cNvSpPr/>
          <p:nvPr/>
        </p:nvSpPr>
        <p:spPr>
          <a:xfrm>
            <a:off x="9372600" y="320040"/>
            <a:ext cx="2304288" cy="347472"/>
          </a:xfrm>
          <a:prstGeom prst="rect">
            <a:avLst/>
          </a:prstGeom>
          <a:solidFill>
            <a:srgbClr val="102A43"/>
          </a:solidFill>
          <a:ln>
            <a:solidFill>
              <a:srgbClr val="102A43"/>
            </a:solidFill>
          </a:ln>
        </p:spPr>
        <p:txBody>
          <a:bodyPr wrap="square" lIns="508" tIns="508" rIns="508" bIns="508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FFFFFF"/>
                </a:solidFill>
              </a:rPr>
              <a:t>AULA 3</a:t>
            </a:r>
            <a:endParaRPr lang="en-US" sz="1150" dirty="0"/>
          </a:p>
        </p:txBody>
      </p:sp>
      <p:sp>
        <p:nvSpPr>
          <p:cNvPr id="5" name="Shape 3"/>
          <p:cNvSpPr/>
          <p:nvPr/>
        </p:nvSpPr>
        <p:spPr>
          <a:xfrm>
            <a:off x="502920" y="1069848"/>
            <a:ext cx="11155680" cy="0"/>
          </a:xfrm>
          <a:prstGeom prst="line">
            <a:avLst/>
          </a:prstGeom>
          <a:noFill/>
          <a:ln w="12700">
            <a:solidFill>
              <a:srgbClr val="CBD5E1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685800" y="1389888"/>
            <a:ext cx="5074920" cy="960120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/>
            </a:solidFill>
          </a:ln>
        </p:spPr>
        <p:txBody>
          <a:bodyPr wrap="square" lIns="1651" tIns="1651" rIns="1651" bIns="1651" rtlCol="0" anchor="ctr">
            <a:normAutofit/>
          </a:bodyPr>
          <a:lstStyle/>
          <a:p>
            <a:pPr indent="0" marL="0">
              <a:buNone/>
            </a:pPr>
            <a:r>
              <a:rPr lang="en-US" sz="1100" dirty="0">
                <a:solidFill>
                  <a:srgbClr val="1F2937"/>
                </a:solidFill>
              </a:rPr>
              <a:t>Mitigar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1F2937"/>
                </a:solidFill>
              </a:rPr>
              <a:t>Reduzir probabilidade, impacto ou ambos.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685800" y="1389888"/>
            <a:ext cx="73152" cy="960120"/>
          </a:xfrm>
          <a:prstGeom prst="rect">
            <a:avLst/>
          </a:prstGeom>
          <a:solidFill>
            <a:srgbClr val="219653"/>
          </a:solidFill>
          <a:ln w="12700">
            <a:solidFill>
              <a:srgbClr val="219653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6263640" y="1389888"/>
            <a:ext cx="5074920" cy="960120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/>
            </a:solidFill>
          </a:ln>
        </p:spPr>
        <p:txBody>
          <a:bodyPr wrap="square" lIns="1651" tIns="1651" rIns="1651" bIns="1651" rtlCol="0" anchor="ctr">
            <a:normAutofit/>
          </a:bodyPr>
          <a:lstStyle/>
          <a:p>
            <a:pPr indent="0" marL="0">
              <a:buNone/>
            </a:pPr>
            <a:r>
              <a:rPr lang="en-US" sz="1100" dirty="0">
                <a:solidFill>
                  <a:srgbClr val="1F2937"/>
                </a:solidFill>
              </a:rPr>
              <a:t>Evitar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1F2937"/>
                </a:solidFill>
              </a:rPr>
              <a:t>Eliminar a atividade ou o processo que gera o risco.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6263640" y="1389888"/>
            <a:ext cx="73152" cy="960120"/>
          </a:xfrm>
          <a:prstGeom prst="rect">
            <a:avLst/>
          </a:prstGeom>
          <a:solidFill>
            <a:srgbClr val="E63946"/>
          </a:solidFill>
          <a:ln w="12700">
            <a:solidFill>
              <a:srgbClr val="E63946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685800" y="2715768"/>
            <a:ext cx="5074920" cy="960120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/>
            </a:solidFill>
          </a:ln>
        </p:spPr>
        <p:txBody>
          <a:bodyPr wrap="square" lIns="1651" tIns="1651" rIns="1651" bIns="1651" rtlCol="0" anchor="ctr">
            <a:normAutofit/>
          </a:bodyPr>
          <a:lstStyle/>
          <a:p>
            <a:pPr indent="0" marL="0">
              <a:buNone/>
            </a:pPr>
            <a:r>
              <a:rPr lang="en-US" sz="1100" dirty="0">
                <a:solidFill>
                  <a:srgbClr val="1F2937"/>
                </a:solidFill>
              </a:rPr>
              <a:t>Transferir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1F2937"/>
                </a:solidFill>
              </a:rPr>
              <a:t>Compartilhar parte das consequências com terceiros.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685800" y="2715768"/>
            <a:ext cx="73152" cy="960120"/>
          </a:xfrm>
          <a:prstGeom prst="rect">
            <a:avLst/>
          </a:prstGeom>
          <a:solidFill>
            <a:srgbClr val="F2994A"/>
          </a:solidFill>
          <a:ln w="12700">
            <a:solidFill>
              <a:srgbClr val="F2994A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6263640" y="2715768"/>
            <a:ext cx="5074920" cy="960120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/>
            </a:solidFill>
          </a:ln>
        </p:spPr>
        <p:txBody>
          <a:bodyPr wrap="square" lIns="1651" tIns="1651" rIns="1651" bIns="1651" rtlCol="0" anchor="ctr">
            <a:normAutofit/>
          </a:bodyPr>
          <a:lstStyle/>
          <a:p>
            <a:pPr indent="0" marL="0">
              <a:buNone/>
            </a:pPr>
            <a:r>
              <a:rPr lang="en-US" sz="1100" dirty="0">
                <a:solidFill>
                  <a:srgbClr val="1F2937"/>
                </a:solidFill>
              </a:rPr>
              <a:t>Aceitar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1F2937"/>
                </a:solidFill>
              </a:rPr>
              <a:t>Conviver formalmente com o risco, com justificativa.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6263640" y="2715768"/>
            <a:ext cx="73152" cy="960120"/>
          </a:xfrm>
          <a:prstGeom prst="rect">
            <a:avLst/>
          </a:prstGeom>
          <a:solidFill>
            <a:srgbClr val="2F80ED"/>
          </a:solidFill>
          <a:ln w="12700">
            <a:solidFill>
              <a:srgbClr val="2F80ED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685800" y="4343400"/>
            <a:ext cx="5074920" cy="749808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>
                <a:alpha val="95000"/>
              </a:srgbClr>
            </a:solidFill>
            <a:headEnd type="none"/>
            <a:tailEnd type="none"/>
          </a:ln>
        </p:spPr>
        <p:txBody>
          <a:bodyPr wrap="square" lIns="1524" tIns="1524" rIns="1524" bIns="1524" rtlCol="0" anchor="t">
            <a:normAutofit/>
          </a:bodyPr>
          <a:lstStyle/>
          <a:p>
            <a:pPr indent="0" marL="0">
              <a:buNone/>
            </a:pPr>
            <a:r>
              <a:rPr lang="en-US" sz="1200" i="1" dirty="0">
                <a:solidFill>
                  <a:srgbClr val="7B8794"/>
                </a:solidFill>
              </a:rPr>
              <a:t>Para o Risco 1 da TechVarejo, a estratégia escolhida será...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6263640" y="4343400"/>
            <a:ext cx="5074920" cy="749808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>
                <a:alpha val="95000"/>
              </a:srgbClr>
            </a:solidFill>
            <a:headEnd type="none"/>
            <a:tailEnd type="none"/>
          </a:ln>
        </p:spPr>
        <p:txBody>
          <a:bodyPr wrap="square" lIns="1524" tIns="1524" rIns="1524" bIns="1524" rtlCol="0" anchor="t">
            <a:normAutofit/>
          </a:bodyPr>
          <a:lstStyle/>
          <a:p>
            <a:pPr indent="0" marL="0">
              <a:buNone/>
            </a:pPr>
            <a:r>
              <a:rPr lang="en-US" sz="1200" i="1" dirty="0">
                <a:solidFill>
                  <a:srgbClr val="7B8794"/>
                </a:solidFill>
              </a:rPr>
              <a:t>Essa estratégia é mais adequada porque...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685800" y="5394960"/>
            <a:ext cx="10652760" cy="731520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>
                <a:alpha val="95000"/>
              </a:srgbClr>
            </a:solidFill>
            <a:headEnd type="none"/>
            <a:tailEnd type="none"/>
          </a:ln>
        </p:spPr>
        <p:txBody>
          <a:bodyPr wrap="square" lIns="1524" tIns="1524" rIns="1524" bIns="1524" rtlCol="0" anchor="t">
            <a:normAutofit/>
          </a:bodyPr>
          <a:lstStyle/>
          <a:p>
            <a:pPr indent="0" marL="0">
              <a:buNone/>
            </a:pPr>
            <a:r>
              <a:rPr lang="en-US" sz="1200" i="1" dirty="0">
                <a:solidFill>
                  <a:srgbClr val="7B8794"/>
                </a:solidFill>
              </a:rPr>
              <a:t>Por que aceitar, evitar ou transferir não são as melhores opções neste caso?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502920" y="6446520"/>
            <a:ext cx="33832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58616D"/>
                </a:solidFill>
              </a:rPr>
              <a:t>Aprender em Ação | Gestão de riscos | 10</a:t>
            </a:r>
            <a:endParaRPr lang="en-US" sz="800" dirty="0"/>
          </a:p>
        </p:txBody>
      </p:sp>
      <p:sp>
        <p:nvSpPr>
          <p:cNvPr id="18" name="Text 16"/>
          <p:cNvSpPr/>
          <p:nvPr/>
        </p:nvSpPr>
        <p:spPr>
          <a:xfrm>
            <a:off x="8321040" y="6446520"/>
            <a:ext cx="33375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58616D"/>
                </a:solidFill>
              </a:rPr>
              <a:t>Preencha os campos no PowerPoint</a:t>
            </a:r>
            <a:endParaRPr lang="en-US" sz="8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7F9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20040"/>
            <a:ext cx="77724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02A4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Aula 3 — Proposta de mitigação concreta</a:t>
            </a:r>
            <a:endParaRPr lang="en-US" sz="2400" dirty="0"/>
          </a:p>
        </p:txBody>
      </p:sp>
      <p:sp>
        <p:nvSpPr>
          <p:cNvPr id="3" name="Text 1"/>
          <p:cNvSpPr/>
          <p:nvPr/>
        </p:nvSpPr>
        <p:spPr>
          <a:xfrm>
            <a:off x="502920" y="768096"/>
            <a:ext cx="80467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58616D"/>
                </a:solidFill>
              </a:rPr>
              <a:t>A medida precisa ser específica, viável e executável.</a:t>
            </a:r>
            <a:endParaRPr lang="en-US" sz="1050" dirty="0"/>
          </a:p>
        </p:txBody>
      </p:sp>
      <p:sp>
        <p:nvSpPr>
          <p:cNvPr id="4" name="Text 2"/>
          <p:cNvSpPr/>
          <p:nvPr/>
        </p:nvSpPr>
        <p:spPr>
          <a:xfrm>
            <a:off x="9372600" y="320040"/>
            <a:ext cx="2304288" cy="347472"/>
          </a:xfrm>
          <a:prstGeom prst="rect">
            <a:avLst/>
          </a:prstGeom>
          <a:solidFill>
            <a:srgbClr val="102A43"/>
          </a:solidFill>
          <a:ln>
            <a:solidFill>
              <a:srgbClr val="102A43"/>
            </a:solidFill>
          </a:ln>
        </p:spPr>
        <p:txBody>
          <a:bodyPr wrap="square" lIns="508" tIns="508" rIns="508" bIns="508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FFFFFF"/>
                </a:solidFill>
              </a:rPr>
              <a:t>AULA 3</a:t>
            </a:r>
            <a:endParaRPr lang="en-US" sz="1150" dirty="0"/>
          </a:p>
        </p:txBody>
      </p:sp>
      <p:sp>
        <p:nvSpPr>
          <p:cNvPr id="5" name="Shape 3"/>
          <p:cNvSpPr/>
          <p:nvPr/>
        </p:nvSpPr>
        <p:spPr>
          <a:xfrm>
            <a:off x="502920" y="1069848"/>
            <a:ext cx="11155680" cy="0"/>
          </a:xfrm>
          <a:prstGeom prst="line">
            <a:avLst/>
          </a:prstGeom>
          <a:noFill/>
          <a:ln w="12700">
            <a:solidFill>
              <a:srgbClr val="CBD5E1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685800" y="1325880"/>
            <a:ext cx="10698480" cy="868680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/>
            </a:solidFill>
          </a:ln>
        </p:spPr>
        <p:txBody>
          <a:bodyPr wrap="square" lIns="1651" tIns="1651" rIns="1651" bIns="1651" rtlCol="0" anchor="ctr">
            <a:normAutofit/>
          </a:bodyPr>
          <a:lstStyle/>
          <a:p>
            <a:pPr indent="0" marL="0">
              <a:buNone/>
            </a:pPr>
            <a:r>
              <a:rPr lang="en-US" sz="1100" dirty="0">
                <a:solidFill>
                  <a:srgbClr val="1F2937"/>
                </a:solidFill>
              </a:rPr>
              <a:t>Risco prioritário retomado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1F2937"/>
                </a:solidFill>
              </a:rPr>
              <a:t>Servidor do e-commerce com sistema operacional sem suporte há três anos e vulnerabilidade explorável por ransomware.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685800" y="1325880"/>
            <a:ext cx="73152" cy="868680"/>
          </a:xfrm>
          <a:prstGeom prst="rect">
            <a:avLst/>
          </a:prstGeom>
          <a:solidFill>
            <a:srgbClr val="E63946"/>
          </a:solidFill>
          <a:ln w="12700">
            <a:solidFill>
              <a:srgbClr val="E63946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685800" y="2514600"/>
            <a:ext cx="10698480" cy="914400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>
                <a:alpha val="95000"/>
              </a:srgbClr>
            </a:solidFill>
            <a:headEnd type="none"/>
            <a:tailEnd type="none"/>
          </a:ln>
        </p:spPr>
        <p:txBody>
          <a:bodyPr wrap="square" lIns="1524" tIns="1524" rIns="1524" bIns="1524" rtlCol="0" anchor="t">
            <a:normAutofit/>
          </a:bodyPr>
          <a:lstStyle/>
          <a:p>
            <a:pPr indent="0" marL="0">
              <a:buNone/>
            </a:pPr>
            <a:r>
              <a:rPr lang="en-US" sz="1300" i="1" dirty="0">
                <a:solidFill>
                  <a:srgbClr val="7B8794"/>
                </a:solidFill>
              </a:rPr>
              <a:t>Medida de mitigação proposta: descreva exatamente o que será feito...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685800" y="3703320"/>
            <a:ext cx="5166360" cy="822960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>
                <a:alpha val="95000"/>
              </a:srgbClr>
            </a:solidFill>
            <a:headEnd type="none"/>
            <a:tailEnd type="none"/>
          </a:ln>
        </p:spPr>
        <p:txBody>
          <a:bodyPr wrap="square" lIns="1524" tIns="1524" rIns="1524" bIns="1524" rtlCol="0" anchor="t">
            <a:normAutofit/>
          </a:bodyPr>
          <a:lstStyle/>
          <a:p>
            <a:pPr indent="0" marL="0">
              <a:buNone/>
            </a:pPr>
            <a:r>
              <a:rPr lang="en-US" sz="1200" i="1" dirty="0">
                <a:solidFill>
                  <a:srgbClr val="7B8794"/>
                </a:solidFill>
              </a:rPr>
              <a:t>Quem executa? Quando? Em qual sistema? Com qual ordem de prioridade?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6217920" y="3703320"/>
            <a:ext cx="5166360" cy="822960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>
                <a:alpha val="95000"/>
              </a:srgbClr>
            </a:solidFill>
            <a:headEnd type="none"/>
            <a:tailEnd type="none"/>
          </a:ln>
        </p:spPr>
        <p:txBody>
          <a:bodyPr wrap="square" lIns="1524" tIns="1524" rIns="1524" bIns="1524" rtlCol="0" anchor="t">
            <a:normAutofit/>
          </a:bodyPr>
          <a:lstStyle/>
          <a:p>
            <a:pPr indent="0" marL="0">
              <a:buNone/>
            </a:pPr>
            <a:r>
              <a:rPr lang="en-US" sz="1200" i="1" dirty="0">
                <a:solidFill>
                  <a:srgbClr val="7B8794"/>
                </a:solidFill>
              </a:rPr>
              <a:t>Essa medida reduz probabilidade, impacto ou os dois? Explique.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685800" y="4864608"/>
            <a:ext cx="10698480" cy="914400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>
                <a:alpha val="95000"/>
              </a:srgbClr>
            </a:solidFill>
            <a:headEnd type="none"/>
            <a:tailEnd type="none"/>
          </a:ln>
        </p:spPr>
        <p:txBody>
          <a:bodyPr wrap="square" lIns="1524" tIns="1524" rIns="1524" bIns="1524" rtlCol="0" anchor="t">
            <a:normAutofit/>
          </a:bodyPr>
          <a:lstStyle/>
          <a:p>
            <a:pPr indent="0" marL="0">
              <a:buNone/>
            </a:pPr>
            <a:r>
              <a:rPr lang="en-US" sz="1200" i="1" dirty="0">
                <a:solidFill>
                  <a:srgbClr val="7B8794"/>
                </a:solidFill>
              </a:rPr>
              <a:t>Como a empresa vai verificar se a mitigação funcionou?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502920" y="6446520"/>
            <a:ext cx="33832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58616D"/>
                </a:solidFill>
              </a:rPr>
              <a:t>Aprender em Ação | Gestão de riscos | 11</a:t>
            </a:r>
            <a:endParaRPr lang="en-US" sz="800" dirty="0"/>
          </a:p>
        </p:txBody>
      </p:sp>
      <p:sp>
        <p:nvSpPr>
          <p:cNvPr id="13" name="Text 11"/>
          <p:cNvSpPr/>
          <p:nvPr/>
        </p:nvSpPr>
        <p:spPr>
          <a:xfrm>
            <a:off x="8321040" y="6446520"/>
            <a:ext cx="33375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58616D"/>
                </a:solidFill>
              </a:rPr>
              <a:t>Preencha os campos no PowerPoint</a:t>
            </a:r>
            <a:endParaRPr lang="en-US" sz="8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7F9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20040"/>
            <a:ext cx="77724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02A4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Aula 3 — Plano de aplicação</a:t>
            </a:r>
            <a:endParaRPr lang="en-US" sz="2400" dirty="0"/>
          </a:p>
        </p:txBody>
      </p:sp>
      <p:sp>
        <p:nvSpPr>
          <p:cNvPr id="3" name="Text 1"/>
          <p:cNvSpPr/>
          <p:nvPr/>
        </p:nvSpPr>
        <p:spPr>
          <a:xfrm>
            <a:off x="502920" y="768096"/>
            <a:ext cx="80467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58616D"/>
                </a:solidFill>
              </a:rPr>
              <a:t>Transforme a mitigação em um mini plano de ação.</a:t>
            </a:r>
            <a:endParaRPr lang="en-US" sz="1050" dirty="0"/>
          </a:p>
        </p:txBody>
      </p:sp>
      <p:sp>
        <p:nvSpPr>
          <p:cNvPr id="4" name="Text 2"/>
          <p:cNvSpPr/>
          <p:nvPr/>
        </p:nvSpPr>
        <p:spPr>
          <a:xfrm>
            <a:off x="9372600" y="320040"/>
            <a:ext cx="2304288" cy="347472"/>
          </a:xfrm>
          <a:prstGeom prst="rect">
            <a:avLst/>
          </a:prstGeom>
          <a:solidFill>
            <a:srgbClr val="102A43"/>
          </a:solidFill>
          <a:ln>
            <a:solidFill>
              <a:srgbClr val="102A43"/>
            </a:solidFill>
          </a:ln>
        </p:spPr>
        <p:txBody>
          <a:bodyPr wrap="square" lIns="508" tIns="508" rIns="508" bIns="508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FFFFFF"/>
                </a:solidFill>
              </a:rPr>
              <a:t>AULA 3</a:t>
            </a:r>
            <a:endParaRPr lang="en-US" sz="1150" dirty="0"/>
          </a:p>
        </p:txBody>
      </p:sp>
      <p:sp>
        <p:nvSpPr>
          <p:cNvPr id="5" name="Shape 3"/>
          <p:cNvSpPr/>
          <p:nvPr/>
        </p:nvSpPr>
        <p:spPr>
          <a:xfrm>
            <a:off x="502920" y="1069848"/>
            <a:ext cx="11155680" cy="0"/>
          </a:xfrm>
          <a:prstGeom prst="line">
            <a:avLst/>
          </a:prstGeom>
          <a:noFill/>
          <a:ln w="12700">
            <a:solidFill>
              <a:srgbClr val="CBD5E1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685800" y="1353312"/>
            <a:ext cx="2194560" cy="658368"/>
          </a:xfrm>
          <a:prstGeom prst="rect">
            <a:avLst/>
          </a:prstGeom>
          <a:solidFill>
            <a:srgbClr val="E63946"/>
          </a:solidFill>
          <a:ln>
            <a:solidFill>
              <a:srgbClr val="E63946"/>
            </a:solidFill>
          </a:ln>
        </p:spPr>
        <p:txBody>
          <a:bodyPr wrap="square" lIns="635" tIns="635" rIns="635" bIns="635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1. Ação imediata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3108960" y="1353312"/>
            <a:ext cx="8275320" cy="658368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>
                <a:alpha val="95000"/>
              </a:srgbClr>
            </a:solidFill>
            <a:headEnd type="none"/>
            <a:tailEnd type="none"/>
          </a:ln>
        </p:spPr>
        <p:txBody>
          <a:bodyPr wrap="square" lIns="1524" tIns="1524" rIns="1524" bIns="1524" rtlCol="0" anchor="t">
            <a:normAutofit/>
          </a:bodyPr>
          <a:lstStyle/>
          <a:p>
            <a:pPr indent="0" marL="0">
              <a:buNone/>
            </a:pPr>
            <a:r>
              <a:rPr lang="en-US" sz="1200" i="1" dirty="0">
                <a:solidFill>
                  <a:srgbClr val="7B8794"/>
                </a:solidFill>
              </a:rPr>
              <a:t>O que deve ser feito primeiro?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685800" y="2478024"/>
            <a:ext cx="2194560" cy="658368"/>
          </a:xfrm>
          <a:prstGeom prst="rect">
            <a:avLst/>
          </a:prstGeom>
          <a:solidFill>
            <a:srgbClr val="219653"/>
          </a:solidFill>
          <a:ln>
            <a:solidFill>
              <a:srgbClr val="219653"/>
            </a:solidFill>
          </a:ln>
        </p:spPr>
        <p:txBody>
          <a:bodyPr wrap="square" lIns="635" tIns="635" rIns="635" bIns="635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2. Controle preventivo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3108960" y="2478024"/>
            <a:ext cx="8275320" cy="658368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>
                <a:alpha val="95000"/>
              </a:srgbClr>
            </a:solidFill>
            <a:headEnd type="none"/>
            <a:tailEnd type="none"/>
          </a:ln>
        </p:spPr>
        <p:txBody>
          <a:bodyPr wrap="square" lIns="1524" tIns="1524" rIns="1524" bIns="1524" rtlCol="0" anchor="t">
            <a:normAutofit/>
          </a:bodyPr>
          <a:lstStyle/>
          <a:p>
            <a:pPr indent="0" marL="0">
              <a:buNone/>
            </a:pPr>
            <a:r>
              <a:rPr lang="en-US" sz="1200" i="1" dirty="0">
                <a:solidFill>
                  <a:srgbClr val="7B8794"/>
                </a:solidFill>
              </a:rPr>
              <a:t>O que evita que o problema volte?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685800" y="3602736"/>
            <a:ext cx="2194560" cy="658368"/>
          </a:xfrm>
          <a:prstGeom prst="rect">
            <a:avLst/>
          </a:prstGeom>
          <a:solidFill>
            <a:srgbClr val="F2994A"/>
          </a:solidFill>
          <a:ln>
            <a:solidFill>
              <a:srgbClr val="F2994A"/>
            </a:solidFill>
          </a:ln>
        </p:spPr>
        <p:txBody>
          <a:bodyPr wrap="square" lIns="635" tIns="635" rIns="635" bIns="635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3. Controle de resposta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3108960" y="3602736"/>
            <a:ext cx="8275320" cy="658368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>
                <a:alpha val="95000"/>
              </a:srgbClr>
            </a:solidFill>
            <a:headEnd type="none"/>
            <a:tailEnd type="none"/>
          </a:ln>
        </p:spPr>
        <p:txBody>
          <a:bodyPr wrap="square" lIns="1524" tIns="1524" rIns="1524" bIns="1524" rtlCol="0" anchor="t">
            <a:normAutofit/>
          </a:bodyPr>
          <a:lstStyle/>
          <a:p>
            <a:pPr indent="0" marL="0">
              <a:buNone/>
            </a:pPr>
            <a:r>
              <a:rPr lang="en-US" sz="1200" i="1" dirty="0">
                <a:solidFill>
                  <a:srgbClr val="7B8794"/>
                </a:solidFill>
              </a:rPr>
              <a:t>O que reduz o dano caso ocorra?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685800" y="4727448"/>
            <a:ext cx="2194560" cy="658368"/>
          </a:xfrm>
          <a:prstGeom prst="rect">
            <a:avLst/>
          </a:prstGeom>
          <a:solidFill>
            <a:srgbClr val="2F80ED"/>
          </a:solidFill>
          <a:ln>
            <a:solidFill>
              <a:srgbClr val="2F80ED"/>
            </a:solidFill>
          </a:ln>
        </p:spPr>
        <p:txBody>
          <a:bodyPr wrap="square" lIns="635" tIns="635" rIns="635" bIns="635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4. Resultado esperado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3108960" y="4727448"/>
            <a:ext cx="8275320" cy="658368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>
                <a:alpha val="95000"/>
              </a:srgbClr>
            </a:solidFill>
            <a:headEnd type="none"/>
            <a:tailEnd type="none"/>
          </a:ln>
        </p:spPr>
        <p:txBody>
          <a:bodyPr wrap="square" lIns="1524" tIns="1524" rIns="1524" bIns="1524" rtlCol="0" anchor="t">
            <a:normAutofit/>
          </a:bodyPr>
          <a:lstStyle/>
          <a:p>
            <a:pPr indent="0" marL="0">
              <a:buNone/>
            </a:pPr>
            <a:r>
              <a:rPr lang="en-US" sz="1200" i="1" dirty="0">
                <a:solidFill>
                  <a:srgbClr val="7B8794"/>
                </a:solidFill>
              </a:rPr>
              <a:t>Qual melhoria será observada?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685800" y="5897880"/>
            <a:ext cx="10698480" cy="411480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>
                <a:alpha val="95000"/>
              </a:srgbClr>
            </a:solidFill>
            <a:headEnd type="none"/>
            <a:tailEnd type="none"/>
          </a:ln>
        </p:spPr>
        <p:txBody>
          <a:bodyPr wrap="square" lIns="1524" tIns="1524" rIns="1524" bIns="1524" rtlCol="0" anchor="t">
            <a:normAutofit/>
          </a:bodyPr>
          <a:lstStyle/>
          <a:p>
            <a:pPr indent="0" marL="0">
              <a:buNone/>
            </a:pPr>
            <a:r>
              <a:rPr lang="en-US" sz="1100" i="1" dirty="0">
                <a:solidFill>
                  <a:srgbClr val="7B8794"/>
                </a:solidFill>
              </a:rPr>
              <a:t>Principal aprendizagem da Aula 3...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502920" y="6446520"/>
            <a:ext cx="33832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58616D"/>
                </a:solidFill>
              </a:rPr>
              <a:t>Aprender em Ação | Gestão de riscos | 12</a:t>
            </a:r>
            <a:endParaRPr lang="en-US" sz="800" dirty="0"/>
          </a:p>
        </p:txBody>
      </p:sp>
      <p:sp>
        <p:nvSpPr>
          <p:cNvPr id="16" name="Text 14"/>
          <p:cNvSpPr/>
          <p:nvPr/>
        </p:nvSpPr>
        <p:spPr>
          <a:xfrm>
            <a:off x="8321040" y="6446520"/>
            <a:ext cx="33375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58616D"/>
                </a:solidFill>
              </a:rPr>
              <a:t>Preencha os campos no PowerPoint</a:t>
            </a:r>
            <a:endParaRPr lang="en-US" sz="8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7F9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20040"/>
            <a:ext cx="77724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02A4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Síntese final — Registro do grupo</a:t>
            </a:r>
            <a:endParaRPr lang="en-US" sz="2400" dirty="0"/>
          </a:p>
        </p:txBody>
      </p:sp>
      <p:sp>
        <p:nvSpPr>
          <p:cNvPr id="3" name="Text 1"/>
          <p:cNvSpPr/>
          <p:nvPr/>
        </p:nvSpPr>
        <p:spPr>
          <a:xfrm>
            <a:off x="502920" y="768096"/>
            <a:ext cx="80467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58616D"/>
                </a:solidFill>
              </a:rPr>
              <a:t>Complete antes de entregar.</a:t>
            </a:r>
            <a:endParaRPr lang="en-US" sz="1050" dirty="0"/>
          </a:p>
        </p:txBody>
      </p:sp>
      <p:sp>
        <p:nvSpPr>
          <p:cNvPr id="4" name="Text 2"/>
          <p:cNvSpPr/>
          <p:nvPr/>
        </p:nvSpPr>
        <p:spPr>
          <a:xfrm>
            <a:off x="9372600" y="320040"/>
            <a:ext cx="2304288" cy="347472"/>
          </a:xfrm>
          <a:prstGeom prst="rect">
            <a:avLst/>
          </a:prstGeom>
          <a:solidFill>
            <a:srgbClr val="102A43"/>
          </a:solidFill>
          <a:ln>
            <a:solidFill>
              <a:srgbClr val="102A43"/>
            </a:solidFill>
          </a:ln>
        </p:spPr>
        <p:txBody>
          <a:bodyPr wrap="square" lIns="508" tIns="508" rIns="508" bIns="508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FFFFFF"/>
                </a:solidFill>
              </a:rPr>
              <a:t>FECHAMENTO</a:t>
            </a:r>
            <a:endParaRPr lang="en-US" sz="1150" dirty="0"/>
          </a:p>
        </p:txBody>
      </p:sp>
      <p:sp>
        <p:nvSpPr>
          <p:cNvPr id="5" name="Shape 3"/>
          <p:cNvSpPr/>
          <p:nvPr/>
        </p:nvSpPr>
        <p:spPr>
          <a:xfrm>
            <a:off x="502920" y="1069848"/>
            <a:ext cx="11155680" cy="0"/>
          </a:xfrm>
          <a:prstGeom prst="line">
            <a:avLst/>
          </a:prstGeom>
          <a:noFill/>
          <a:ln w="12700">
            <a:solidFill>
              <a:srgbClr val="CBD5E1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685800" y="1325880"/>
            <a:ext cx="10698480" cy="594360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>
                <a:alpha val="95000"/>
              </a:srgbClr>
            </a:solidFill>
            <a:headEnd type="none"/>
            <a:tailEnd type="none"/>
          </a:ln>
        </p:spPr>
        <p:txBody>
          <a:bodyPr wrap="square" lIns="1524" tIns="1524" rIns="1524" bIns="1524" rtlCol="0" anchor="t">
            <a:normAutofit/>
          </a:bodyPr>
          <a:lstStyle/>
          <a:p>
            <a:pPr indent="0" marL="0">
              <a:buNone/>
            </a:pPr>
            <a:r>
              <a:rPr lang="en-US" sz="1200" i="1" dirty="0">
                <a:solidFill>
                  <a:srgbClr val="7B8794"/>
                </a:solidFill>
              </a:rPr>
              <a:t>Em uma frase: o que é risco de segurança da informação?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685800" y="2148840"/>
            <a:ext cx="5166360" cy="777240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>
                <a:alpha val="95000"/>
              </a:srgbClr>
            </a:solidFill>
            <a:headEnd type="none"/>
            <a:tailEnd type="none"/>
          </a:ln>
        </p:spPr>
        <p:txBody>
          <a:bodyPr wrap="square" lIns="1524" tIns="1524" rIns="1524" bIns="1524" rtlCol="0" anchor="t">
            <a:normAutofit/>
          </a:bodyPr>
          <a:lstStyle/>
          <a:p>
            <a:pPr indent="0" marL="0">
              <a:buNone/>
            </a:pPr>
            <a:r>
              <a:rPr lang="en-US" sz="1200" i="1" dirty="0">
                <a:solidFill>
                  <a:srgbClr val="7B8794"/>
                </a:solidFill>
              </a:rPr>
              <a:t>Diferença entre ameaça e vulnerabilidade...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6217920" y="2148840"/>
            <a:ext cx="5166360" cy="777240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>
                <a:alpha val="95000"/>
              </a:srgbClr>
            </a:solidFill>
            <a:headEnd type="none"/>
            <a:tailEnd type="none"/>
          </a:ln>
        </p:spPr>
        <p:txBody>
          <a:bodyPr wrap="square" lIns="1524" tIns="1524" rIns="1524" bIns="1524" rtlCol="0" anchor="t">
            <a:normAutofit/>
          </a:bodyPr>
          <a:lstStyle/>
          <a:p>
            <a:pPr indent="0" marL="0">
              <a:buNone/>
            </a:pPr>
            <a:r>
              <a:rPr lang="en-US" sz="1200" i="1" dirty="0">
                <a:solidFill>
                  <a:srgbClr val="7B8794"/>
                </a:solidFill>
              </a:rPr>
              <a:t>Diferença entre probabilidade e impacto...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685800" y="3246120"/>
            <a:ext cx="5166360" cy="777240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>
                <a:alpha val="95000"/>
              </a:srgbClr>
            </a:solidFill>
            <a:headEnd type="none"/>
            <a:tailEnd type="none"/>
          </a:ln>
        </p:spPr>
        <p:txBody>
          <a:bodyPr wrap="square" lIns="1524" tIns="1524" rIns="1524" bIns="1524" rtlCol="0" anchor="t">
            <a:normAutofit/>
          </a:bodyPr>
          <a:lstStyle/>
          <a:p>
            <a:pPr indent="0" marL="0">
              <a:buNone/>
            </a:pPr>
            <a:r>
              <a:rPr lang="en-US" sz="1200" i="1" dirty="0">
                <a:solidFill>
                  <a:srgbClr val="7B8794"/>
                </a:solidFill>
              </a:rPr>
              <a:t>Por que nem todo risco precisa ser eliminado?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6217920" y="3246120"/>
            <a:ext cx="5166360" cy="777240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>
                <a:alpha val="95000"/>
              </a:srgbClr>
            </a:solidFill>
            <a:headEnd type="none"/>
            <a:tailEnd type="none"/>
          </a:ln>
        </p:spPr>
        <p:txBody>
          <a:bodyPr wrap="square" lIns="1524" tIns="1524" rIns="1524" bIns="1524" rtlCol="0" anchor="t">
            <a:normAutofit/>
          </a:bodyPr>
          <a:lstStyle/>
          <a:p>
            <a:pPr indent="0" marL="0">
              <a:buNone/>
            </a:pPr>
            <a:r>
              <a:rPr lang="en-US" sz="1200" i="1" dirty="0">
                <a:solidFill>
                  <a:srgbClr val="7B8794"/>
                </a:solidFill>
              </a:rPr>
              <a:t>Qual é a importância de uma mitigação concreta?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685800" y="4434840"/>
            <a:ext cx="10698480" cy="1051560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>
                <a:alpha val="95000"/>
              </a:srgbClr>
            </a:solidFill>
            <a:headEnd type="none"/>
            <a:tailEnd type="none"/>
          </a:ln>
        </p:spPr>
        <p:txBody>
          <a:bodyPr wrap="square" lIns="1524" tIns="1524" rIns="1524" bIns="1524" rtlCol="0" anchor="t">
            <a:normAutofit/>
          </a:bodyPr>
          <a:lstStyle/>
          <a:p>
            <a:pPr indent="0" marL="0">
              <a:buNone/>
            </a:pPr>
            <a:r>
              <a:rPr lang="en-US" sz="1200" i="1" dirty="0">
                <a:solidFill>
                  <a:srgbClr val="7B8794"/>
                </a:solidFill>
              </a:rPr>
              <a:t>Conclusão final do grupo: o que uma organização deve fazer depois de identificar, avaliar e priorizar um risco?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685800" y="5696712"/>
            <a:ext cx="10698480" cy="502920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>
                <a:alpha val="95000"/>
              </a:srgbClr>
            </a:solidFill>
            <a:headEnd type="none"/>
            <a:tailEnd type="none"/>
          </a:ln>
        </p:spPr>
        <p:txBody>
          <a:bodyPr wrap="square" lIns="1524" tIns="1524" rIns="1524" bIns="1524" rtlCol="0" anchor="t">
            <a:normAutofit/>
          </a:bodyPr>
          <a:lstStyle/>
          <a:p>
            <a:pPr indent="0" marL="0">
              <a:buNone/>
            </a:pPr>
            <a:r>
              <a:rPr lang="en-US" sz="1100" i="1" dirty="0">
                <a:solidFill>
                  <a:srgbClr val="7B8794"/>
                </a:solidFill>
              </a:rPr>
              <a:t>Autoavaliação: participação do grupo / dificuldades encontradas / dúvidas restantes...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502920" y="6446520"/>
            <a:ext cx="33832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58616D"/>
                </a:solidFill>
              </a:rPr>
              <a:t>Aprender em Ação | Gestão de riscos | 13</a:t>
            </a:r>
            <a:endParaRPr lang="en-US" sz="800" dirty="0"/>
          </a:p>
        </p:txBody>
      </p:sp>
      <p:sp>
        <p:nvSpPr>
          <p:cNvPr id="14" name="Text 12"/>
          <p:cNvSpPr/>
          <p:nvPr/>
        </p:nvSpPr>
        <p:spPr>
          <a:xfrm>
            <a:off x="8321040" y="6446520"/>
            <a:ext cx="33375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58616D"/>
                </a:solidFill>
              </a:rPr>
              <a:t>Preencha os campos no PowerPoint</a:t>
            </a:r>
            <a:endParaRPr lang="en-US" sz="8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ptos Display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13</Slides>
  <Notes>13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13</vt:i4>
      </vt:variant>
    </vt:vector>
  </HeadingPairs>
  <TitlesOfParts>
    <vt:vector size="16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</vt:vector>
  </TitlesOfParts>
  <Company>Escola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Aprender em Ação - Gestão de riscos</dc:title>
  <dc:subject>Atividade Aprender em Ação - Gestão de riscos de segurança da informação</dc:subject>
  <dc:creator>OpenAI</dc:creator>
  <cp:lastModifiedBy>OpenAI</cp:lastModifiedBy>
  <cp:revision>1</cp:revision>
  <dcterms:created xsi:type="dcterms:W3CDTF">2026-08-24T10:55:23Z</dcterms:created>
  <dcterms:modified xsi:type="dcterms:W3CDTF">2026-08-24T10:55:23Z</dcterms:modified>
</cp:coreProperties>
</file>