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46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ui_concept_illustration_on_a_light_bac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0515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02A43"/>
                </a:solidFill>
              </a:rPr>
              <a:t>Componentes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02A43"/>
                </a:solidFill>
              </a:rPr>
              <a:t>personalizados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1792" y="2514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Atividade prática em slides • montar, parametrizar e reutilizar um card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1792" y="3182112"/>
            <a:ext cx="1600200" cy="32004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7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</a:rPr>
              <a:t>2 aulas de 50 min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377440" y="3182112"/>
            <a:ext cx="2057400" cy="320040"/>
          </a:xfrm>
          <a:prstGeom prst="rect">
            <a:avLst/>
          </a:prstGeom>
          <a:solidFill>
            <a:srgbClr val="CCFBF1"/>
          </a:solidFill>
          <a:ln>
            <a:solidFill>
              <a:srgbClr val="14B8A6">
                <a:alpha val="7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preenchimento + prática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1792" y="6272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Interfaces com o Usuário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201168"/>
            <a:ext cx="502920" cy="502920"/>
          </a:xfrm>
          <a:prstGeom prst="rect">
            <a:avLst/>
          </a:prstGeom>
          <a:solidFill>
            <a:srgbClr val="CCFBF1">
              <a:alpha val="85000"/>
            </a:srgbClr>
          </a:solidFill>
          <a:ln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Plano das duas aulas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Use como roteiro: parte conceitual curta + prática com slide editável.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4964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</a:rPr>
              <a:t>Interfaces com o Usuário • Componentes personalizados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51663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Aula 1 — Entender o componente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O que é um componente de interface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Encapsulamento, modularidade e reutilização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Anatomia de um card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Preenchimento guiado no slide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55080" y="1325880"/>
            <a:ext cx="51663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Aula 2 — Reutilizar e animar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Duplicar o card sem modificar a base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Trocar somente parâmetros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Entender animações baseadas em física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Responder às questões finais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201168"/>
            <a:ext cx="502920" cy="502920"/>
          </a:xfrm>
          <a:prstGeom prst="rect">
            <a:avLst/>
          </a:prstGeom>
          <a:solidFill>
            <a:srgbClr val="CCFBF1">
              <a:alpha val="85000"/>
            </a:srgbClr>
          </a:solidFill>
          <a:ln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Ponto de partida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Problema para iniciar a conversa com a turma.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4964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</a:rPr>
              <a:t>Interfaces com o Usuário • Componentes personalizados</a:t>
            </a:r>
            <a:endParaRPr lang="en-US" sz="650" dirty="0"/>
          </a:p>
        </p:txBody>
      </p:sp>
      <p:pic>
        <p:nvPicPr>
          <p:cNvPr id="6" name="Image 0" descr="/mnt/data/wide_clean_ui_concept_illustration_on_a_light_bac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263865"/>
            <a:ext cx="4709160" cy="26503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417320"/>
            <a:ext cx="5806440" cy="1325880"/>
          </a:xfrm>
          <a:prstGeom prst="rect">
            <a:avLst/>
          </a:prstGeom>
          <a:solidFill>
            <a:srgbClr val="EFF6FF"/>
          </a:solidFill>
          <a:ln>
            <a:solidFill>
              <a:srgbClr val="93C5FD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Situação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Uma startup precisa criar um app de marketplace. A equipe tem pouco tempo e várias telas com produtos, perfis e notificações.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971800"/>
            <a:ext cx="18288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</a:rPr>
              <a:t>Produto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</a:rPr>
              <a:t>Imagem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</a:rPr>
              <a:t>Nome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</a:rPr>
              <a:t>Preço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</a:rPr>
              <a:t>Comprar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0" y="2971800"/>
            <a:ext cx="18288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</a:rPr>
              <a:t>Notificação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</a:rPr>
              <a:t>Ícone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</a:rPr>
              <a:t>Título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</a:rPr>
              <a:t>Texto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</a:rPr>
              <a:t>Botão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00600" y="2971800"/>
            <a:ext cx="16916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</a:rPr>
              <a:t>Perfil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</a:rPr>
              <a:t>Foto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</a:rPr>
              <a:t>Nome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</a:rPr>
              <a:t>Bio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</a:rPr>
              <a:t>Contato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4754880"/>
            <a:ext cx="5806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Pergunta-guia: como criar essas partes uma vez só e usar em várias telas?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201168"/>
            <a:ext cx="502920" cy="502920"/>
          </a:xfrm>
          <a:prstGeom prst="rect">
            <a:avLst/>
          </a:prstGeom>
          <a:solidFill>
            <a:srgbClr val="CCFBF1">
              <a:alpha val="85000"/>
            </a:srgbClr>
          </a:solidFill>
          <a:ln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 central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Um componente é uma peça reutilizável da interface.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4964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</a:rPr>
              <a:t>Interfaces com o Usuário • Componentes personalizados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</a:rPr>
              <a:t>Componente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é uma parte da tela que junta visual + comportamento e pode ser usada em vários lugares.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15000" y="1143000"/>
            <a:ext cx="4206240" cy="46177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Exemplo: ProductCard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Imagem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Título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Preço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Favorito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Botão comprar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12680" y="178308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Parâmetros mudam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sem alterar a base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46920" y="2423160"/>
            <a:ext cx="5029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77240" y="3931920"/>
            <a:ext cx="4206240" cy="1143000"/>
          </a:xfrm>
          <a:prstGeom prst="rect">
            <a:avLst/>
          </a:prstGeom>
          <a:solidFill>
            <a:srgbClr val="ECFEFF"/>
          </a:solidFill>
          <a:ln>
            <a:solidFill>
              <a:srgbClr val="67E8F9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Ideia simples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Criar uma vez. Reutilizar muitas vezes. Alterar só os dados.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201168"/>
            <a:ext cx="502920" cy="502920"/>
          </a:xfrm>
          <a:prstGeom prst="rect">
            <a:avLst/>
          </a:prstGeom>
          <a:solidFill>
            <a:srgbClr val="CCFBF1">
              <a:alpha val="85000"/>
            </a:srgbClr>
          </a:solidFill>
          <a:ln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Preenchimento guiado — conceitos-chave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Complete com suas palavras depois da explicação.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4964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</a:rPr>
              <a:t>Interfaces com o Usuário • Componentes personalizados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34290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1. Encapsulamento é: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89120" y="1234440"/>
            <a:ext cx="34290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2. Modularidade é: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92440" y="1234440"/>
            <a:ext cx="34290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3. Reutilização é: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51206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4. Cite um componente que você vê em apps: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55080" y="3063240"/>
            <a:ext cx="5166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5. O que pode mudar por parâmetro?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4709160"/>
            <a:ext cx="10835640" cy="8686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Frase final para completar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Um componente reutilizável ajuda porque ________________________________________________.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201168"/>
            <a:ext cx="502920" cy="502920"/>
          </a:xfrm>
          <a:prstGeom prst="rect">
            <a:avLst/>
          </a:prstGeom>
          <a:solidFill>
            <a:srgbClr val="CCFBF1">
              <a:alpha val="85000"/>
            </a:srgbClr>
          </a:solidFill>
          <a:ln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Prática 1 — Anatomia de um Card de Notificação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Antes de montar, identifique as peças do card.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4964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</a:rPr>
              <a:t>Interfaces com o Usuário • Componentes personalizados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868680" y="1197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A43"/>
                </a:solidFill>
              </a:rPr>
              <a:t>Modelo visual do card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14984" y="1655064"/>
            <a:ext cx="502920" cy="50292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7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Ícone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1618488"/>
            <a:ext cx="28803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2A43"/>
                </a:solidFill>
              </a:rPr>
              <a:t>Título da notificação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645920" y="1984248"/>
            <a:ext cx="2880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Mensagem curta aqui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14984" y="2468880"/>
            <a:ext cx="868680" cy="256032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Data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10712" y="2441448"/>
            <a:ext cx="1115568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Botão / ação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" y="1508760"/>
            <a:ext cx="3840480" cy="1417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86400" y="1234440"/>
            <a:ext cx="25603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Parte fixa 1: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58200" y="1234440"/>
            <a:ext cx="25603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Parte fixa 2: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0" y="2240280"/>
            <a:ext cx="25603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Parte variável 1: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58200" y="2240280"/>
            <a:ext cx="25603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Parte variável 2: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0" y="3246120"/>
            <a:ext cx="25603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Parâmetro 1: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58200" y="3246120"/>
            <a:ext cx="25603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Parâmetro 2: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0" y="4251960"/>
            <a:ext cx="25603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Parâmetro 3: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58200" y="4251960"/>
            <a:ext cx="25603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Parâmetro 4: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4069080"/>
            <a:ext cx="3840480" cy="1280160"/>
          </a:xfrm>
          <a:prstGeom prst="rect">
            <a:avLst/>
          </a:prstGeom>
          <a:solidFill>
            <a:srgbClr val="EFF6FF"/>
          </a:solidFill>
          <a:ln>
            <a:solidFill>
              <a:srgbClr val="93C5FD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02A43"/>
                </a:solidFill>
              </a:rPr>
              <a:t>Dica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2A43"/>
                </a:solidFill>
              </a:rPr>
              <a:t>Fixo = estrutura do componente.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2A43"/>
                </a:solidFill>
              </a:rPr>
              <a:t>Variável = informação que muda em cada uso.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201168"/>
            <a:ext cx="502920" cy="502920"/>
          </a:xfrm>
          <a:prstGeom prst="rect">
            <a:avLst/>
          </a:prstGeom>
          <a:solidFill>
            <a:srgbClr val="CCFBF1">
              <a:alpha val="85000"/>
            </a:srgbClr>
          </a:solidFill>
          <a:ln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Prática 2 — Monte o card base no próprio slide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 objetivo é criar uma base editável e depois duplicar.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4964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</a:rPr>
              <a:t>Interfaces com o Usuário • Componentes personalizados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960120" y="128930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A43"/>
                </a:solidFill>
              </a:rPr>
              <a:t>CARD BASE — não alterar a estrutura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06424" y="1746504"/>
            <a:ext cx="502920" cy="50292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7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Ícone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709928"/>
            <a:ext cx="37490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2A43"/>
                </a:solidFill>
              </a:rPr>
              <a:t>Título da notificação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737360" y="2075688"/>
            <a:ext cx="3749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Mensagem curta aqui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06424" y="2560320"/>
            <a:ext cx="868680" cy="256032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Data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70832" y="2532888"/>
            <a:ext cx="1115568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Botão / ação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0120" y="1600200"/>
            <a:ext cx="4709160" cy="1600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0800" y="1188720"/>
            <a:ext cx="47548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Passo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Ajuste posição, tamanho e organização do card base.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423160"/>
            <a:ext cx="47548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Passo 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Use Ctrl + D para duplicar o card.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47548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Passo 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Nas cópias, troque só título, mensagem, data, ícone e botão.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160520"/>
            <a:ext cx="4709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Quais elementos NÃO podem ser alterados na base?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201168"/>
            <a:ext cx="502920" cy="502920"/>
          </a:xfrm>
          <a:prstGeom prst="rect">
            <a:avLst/>
          </a:prstGeom>
          <a:solidFill>
            <a:srgbClr val="CCFBF1">
              <a:alpha val="85000"/>
            </a:srgbClr>
          </a:solidFill>
          <a:ln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Prática 3 — Reutilize o mesmo card em 3 situações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Faça três versões usando a mesma estrutura.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4964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</a:rPr>
              <a:t>Interfaces com o Usuário • Componentes personalizados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85800" y="11521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A43"/>
                </a:solidFill>
              </a:rPr>
              <a:t>Versão 1: prova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2104" y="1609344"/>
            <a:ext cx="502920" cy="50292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7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Ícone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572768"/>
            <a:ext cx="2468880" cy="29260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2A43"/>
                </a:solidFill>
              </a:rPr>
              <a:t>Título da notificação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63040" y="1938528"/>
            <a:ext cx="2468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Mensagem curta aqui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" y="2423160"/>
            <a:ext cx="868680" cy="256032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Data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16352" y="2395728"/>
            <a:ext cx="1115568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Botão / ação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1463040"/>
            <a:ext cx="3429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89120" y="11521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A43"/>
                </a:solidFill>
              </a:rPr>
              <a:t>Versão 2: evento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35424" y="1609344"/>
            <a:ext cx="502920" cy="502920"/>
          </a:xfrm>
          <a:prstGeom prst="rect">
            <a:avLst/>
          </a:prstGeom>
          <a:solidFill>
            <a:srgbClr val="CCFBF1"/>
          </a:solidFill>
          <a:ln>
            <a:solidFill>
              <a:srgbClr val="14B8A6">
                <a:alpha val="7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</a:rPr>
              <a:t>Ícone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66360" y="1572768"/>
            <a:ext cx="2468880" cy="29260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2A43"/>
                </a:solidFill>
              </a:rPr>
              <a:t>Título da notificação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66360" y="1938528"/>
            <a:ext cx="2468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Mensagem curta aqui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35424" y="2423160"/>
            <a:ext cx="868680" cy="256032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Data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19672" y="2395728"/>
            <a:ext cx="1115568" cy="310896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Botão / ação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89120" y="1463040"/>
            <a:ext cx="3429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92440" y="11521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A43"/>
                </a:solidFill>
              </a:rPr>
              <a:t>Versão 3: recado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38744" y="1609344"/>
            <a:ext cx="502920" cy="50292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7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</a:rPr>
              <a:t>Ícone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1572768"/>
            <a:ext cx="2468880" cy="29260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2A43"/>
                </a:solidFill>
              </a:rPr>
              <a:t>Título da notificação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869680" y="1938528"/>
            <a:ext cx="2468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Mensagem curta aqui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38744" y="2423160"/>
            <a:ext cx="868680" cy="256032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Data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22992" y="2395728"/>
            <a:ext cx="1115568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Botão / ação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092440" y="1463040"/>
            <a:ext cx="3429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5800" y="3794760"/>
            <a:ext cx="34290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Parâmetros usados na versão 1: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89120" y="3794760"/>
            <a:ext cx="34290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Parâmetros usados na versão 2: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92440" y="3794760"/>
            <a:ext cx="34290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Parâmetros usados na versão 3: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5800" y="5486400"/>
            <a:ext cx="108356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Regra da atividade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Você pode mudar dados e ação do botão. Não mude a estrutura visual do card.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Animações baseadas em física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Explicação antes da atividade de reflexão.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54964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</a:rPr>
              <a:t>Interfaces com o Usuário • Componentes personalizados</a:t>
            </a:r>
            <a:endParaRPr lang="en-US" sz="650" dirty="0"/>
          </a:p>
        </p:txBody>
      </p:sp>
      <p:pic>
        <p:nvPicPr>
          <p:cNvPr id="5" name="Image 0" descr="/mnt/data/wide_clean_vector_illustration_style_scene_on_a_li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969337"/>
            <a:ext cx="6080760" cy="34222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234440"/>
            <a:ext cx="45262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O que são?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São animações que simulam movimentos do mundo real: aceleração, desaceleração, peso, atrito, mola e continuidade.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2788920"/>
            <a:ext cx="45262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Por que usar?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Porque o usuário entende melhor causa e efeito. O movimento parece natural, dá feedback e ajuda a perceber que algo foi tocado, aberto, arrastado ou confirmado.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4617720"/>
            <a:ext cx="4526280" cy="731520"/>
          </a:xfrm>
          <a:prstGeom prst="rect">
            <a:avLst/>
          </a:prstGeom>
          <a:solidFill>
            <a:srgbClr val="ECFEFF"/>
          </a:solidFill>
          <a:ln>
            <a:solidFill>
              <a:srgbClr val="67E8F9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Exemplo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Um card que volta com efeito de mola após ser arrastado.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201168"/>
            <a:ext cx="502920" cy="502920"/>
          </a:xfrm>
          <a:prstGeom prst="rect">
            <a:avLst/>
          </a:prstGeom>
          <a:solidFill>
            <a:srgbClr val="CCFBF1">
              <a:alpha val="85000"/>
            </a:srgbClr>
          </a:solidFill>
          <a:ln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a animação ajuda — e quando atrapalha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Use esta comparação para preparar as respostas.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4964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</a:rPr>
              <a:t>Interfaces com o Usuário • Componentes personalizados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5120640" cy="4114800"/>
          </a:xfrm>
          <a:prstGeom prst="rect">
            <a:avLst/>
          </a:prstGeom>
          <a:solidFill>
            <a:srgbClr val="ECFEFF"/>
          </a:solidFill>
          <a:ln>
            <a:solidFill>
              <a:srgbClr val="5EEAD4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Boa animação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Mostra que o toque foi reconhecido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Guia o olhar do usuário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Explica mudança de tela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Dá sensação de fluidez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Tem duração curta e função clara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1325880"/>
            <a:ext cx="5120640" cy="4114800"/>
          </a:xfrm>
          <a:prstGeom prst="rect">
            <a:avLst/>
          </a:prstGeom>
          <a:solidFill>
            <a:srgbClr val="FEF3C7"/>
          </a:solidFill>
          <a:ln>
            <a:solidFill>
              <a:srgbClr val="FBBF24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Animação excessiva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Demora demais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Aparece em tudo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Distrai do conteúdo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Atrapalha tarefas rápidas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• Pode cansar o usuário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201168"/>
            <a:ext cx="502920" cy="502920"/>
          </a:xfrm>
          <a:prstGeom prst="rect">
            <a:avLst/>
          </a:prstGeom>
          <a:solidFill>
            <a:srgbClr val="CCFBF1">
              <a:alpha val="85000"/>
            </a:srgbClr>
          </a:solidFill>
          <a:ln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Atividade prática — reflexão sobre animações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Responda em dupla. Depois, registre a conclusão individual.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4964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</a:rPr>
              <a:t>Interfaces com o Usuário • Componentes personalizados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54406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1. Qual é a importância das animações baseadas em Física para a experiência do usuário em um aplicativo móvel?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09360" y="1143000"/>
            <a:ext cx="52578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2. Como as transições personalizadas podem impactar a percepção de um usuário ao navegar pelo aplicativo?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54406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3. Cite um exemplo de quando uma animação poderia ser excessiva e prejudicar a experiência do usuário.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09360" y="2880360"/>
            <a:ext cx="52578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4. Qual é o benefício de utilizar animações que simulam o comportamento de “mola” ao interagir com elementos da interface?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109270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Conclusão individual: qual animação você colocaria no card criado e por quê?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201168"/>
            <a:ext cx="502920" cy="502920"/>
          </a:xfrm>
          <a:prstGeom prst="rect">
            <a:avLst/>
          </a:prstGeom>
          <a:solidFill>
            <a:srgbClr val="CCFBF1">
              <a:alpha val="85000"/>
            </a:srgbClr>
          </a:solidFill>
          <a:ln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Entrega final da dupla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 que precisa aparecer no slide de vocês.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4964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</a:rPr>
              <a:t>Interfaces com o Usuário • Componentes personalizados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33375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1. Card base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Estrutura organizada, com ícone, título, mensagem, data e botão.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34840" y="1234440"/>
            <a:ext cx="33375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2. Três reutilizações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Mesmo layout, mudando somente os parâmetros de cada situação.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01000" y="1234440"/>
            <a:ext cx="33375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12700" dist="50800" dir="2700000" algn="bl" rotWithShape="0">
              <a:srgbClr val="D1D5DB">
                <a:alpha val="16000"/>
              </a:srgbClr>
            </a:outerShdw>
          </a:effectLst>
        </p:spPr>
        <p:txBody>
          <a:bodyPr wrap="square" lIns="1905" tIns="1905" rIns="1905" bIns="190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3. Respostas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Questões sobre animações e conclusão individual.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Critério principal: entender a lógica de reutilização, não “decorar bonito”.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990</Words>
  <Application>Microsoft Office PowerPoint</Application>
  <PresentationFormat>Widescreen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Open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Ponto de Formação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 prática - Componentes personalizados</dc:title>
  <dc:subject>Componentes personalizados e animações em interfaces mobile</dc:subject>
  <dc:creator>OpenAI</dc:creator>
  <cp:lastModifiedBy>crislaine pacheco</cp:lastModifiedBy>
  <cp:revision>1</cp:revision>
  <dcterms:created xsi:type="dcterms:W3CDTF">2026-08-04T18:26:24Z</dcterms:created>
  <dcterms:modified xsi:type="dcterms:W3CDTF">2026-08-04T18:43:08Z</dcterms:modified>
</cp:coreProperties>
</file>